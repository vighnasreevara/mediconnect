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62" r:id="rId3"/>
    <p:sldId id="264" r:id="rId4"/>
    <p:sldId id="265" r:id="rId5"/>
    <p:sldId id="266" r:id="rId6"/>
    <p:sldId id="267" r:id="rId7"/>
    <p:sldId id="268" r:id="rId8"/>
    <p:sldId id="269" r:id="rId9"/>
    <p:sldId id="270" r:id="rId10"/>
    <p:sldId id="271" r:id="rId11"/>
    <p:sldId id="283" r:id="rId12"/>
    <p:sldId id="272" r:id="rId13"/>
    <p:sldId id="273" r:id="rId14"/>
    <p:sldId id="282" r:id="rId15"/>
    <p:sldId id="274" r:id="rId16"/>
    <p:sldId id="276" r:id="rId17"/>
    <p:sldId id="277" r:id="rId18"/>
    <p:sldId id="278" r:id="rId19"/>
    <p:sldId id="279" r:id="rId20"/>
    <p:sldId id="281" r:id="rId21"/>
    <p:sldId id="26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651"/>
    <a:srgbClr val="007B3B"/>
    <a:srgbClr val="00713A"/>
    <a:srgbClr val="068817"/>
    <a:srgbClr val="079418"/>
    <a:srgbClr val="74C427"/>
    <a:srgbClr val="A6C44B"/>
    <a:srgbClr val="8AC4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72" autoAdjust="0"/>
    <p:restoredTop sz="94512"/>
  </p:normalViewPr>
  <p:slideViewPr>
    <p:cSldViewPr snapToGrid="0" snapToObjects="1">
      <p:cViewPr varScale="1">
        <p:scale>
          <a:sx n="107" d="100"/>
          <a:sy n="107" d="100"/>
        </p:scale>
        <p:origin x="96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F0A63-798F-4220-BDF6-4F2A310BE513}" type="datetimeFigureOut">
              <a:rPr lang="en-US" smtClean="0"/>
              <a:t>11/22/24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21ACC4-E66A-45E9-847A-A5289B8226FE}" type="slidenum">
              <a:rPr lang="en-US" smtClean="0"/>
              <a:t>‹#›</a:t>
            </a:fld>
            <a:endParaRPr lang="en-US"/>
          </a:p>
        </p:txBody>
      </p:sp>
    </p:spTree>
    <p:extLst>
      <p:ext uri="{BB962C8B-B14F-4D97-AF65-F5344CB8AC3E}">
        <p14:creationId xmlns:p14="http://schemas.microsoft.com/office/powerpoint/2010/main" val="3863053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DB274-ECD9-6844-9790-21A98E226B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71F342-481B-6046-AC35-EAEC748157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B2C935-632D-5245-A926-94951C6CF1AC}"/>
              </a:ext>
            </a:extLst>
          </p:cNvPr>
          <p:cNvSpPr>
            <a:spLocks noGrp="1"/>
          </p:cNvSpPr>
          <p:nvPr>
            <p:ph type="dt" sz="half" idx="10"/>
          </p:nvPr>
        </p:nvSpPr>
        <p:spPr/>
        <p:txBody>
          <a:bodyPr/>
          <a:lstStyle/>
          <a:p>
            <a:fld id="{3A7DEE86-343E-4E52-A9F2-5D2AFC375F8E}" type="datetime1">
              <a:rPr lang="en-US" smtClean="0"/>
              <a:t>11/22/24</a:t>
            </a:fld>
            <a:endParaRPr lang="en-US"/>
          </a:p>
        </p:txBody>
      </p:sp>
      <p:sp>
        <p:nvSpPr>
          <p:cNvPr id="5" name="Footer Placeholder 4">
            <a:extLst>
              <a:ext uri="{FF2B5EF4-FFF2-40B4-BE49-F238E27FC236}">
                <a16:creationId xmlns:a16="http://schemas.microsoft.com/office/drawing/2014/main" id="{DEFE5520-4DEB-FD4B-9F22-EB7C51525F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8256D7-680F-CB4B-B10E-1D6FFA76A373}"/>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353650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C353-9FBE-5141-8529-377FCB0DA5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D30843-08AB-CC45-97F8-99A8E27BA12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E64518-F3DB-A744-B69B-BF882A572A17}"/>
              </a:ext>
            </a:extLst>
          </p:cNvPr>
          <p:cNvSpPr>
            <a:spLocks noGrp="1"/>
          </p:cNvSpPr>
          <p:nvPr>
            <p:ph type="dt" sz="half" idx="10"/>
          </p:nvPr>
        </p:nvSpPr>
        <p:spPr/>
        <p:txBody>
          <a:bodyPr/>
          <a:lstStyle/>
          <a:p>
            <a:fld id="{B30C5F76-5E10-4AEF-869E-0247C6F0D1CC}" type="datetime1">
              <a:rPr lang="en-US" smtClean="0"/>
              <a:t>11/22/24</a:t>
            </a:fld>
            <a:endParaRPr lang="en-US"/>
          </a:p>
        </p:txBody>
      </p:sp>
      <p:sp>
        <p:nvSpPr>
          <p:cNvPr id="5" name="Footer Placeholder 4">
            <a:extLst>
              <a:ext uri="{FF2B5EF4-FFF2-40B4-BE49-F238E27FC236}">
                <a16:creationId xmlns:a16="http://schemas.microsoft.com/office/drawing/2014/main" id="{0DFA3B07-70E9-4A47-97A0-383E69C07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5EBA83-4E92-6144-A2C2-531FEF5981F2}"/>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271630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DF050-A008-D041-8679-9B7B4AD0D0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7D1FC5-B68F-274C-BB41-EE6FC34654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6407DBC-D1BC-924F-AB42-F07F6E6CFC79}"/>
              </a:ext>
            </a:extLst>
          </p:cNvPr>
          <p:cNvSpPr>
            <a:spLocks noGrp="1"/>
          </p:cNvSpPr>
          <p:nvPr>
            <p:ph type="dt" sz="half" idx="10"/>
          </p:nvPr>
        </p:nvSpPr>
        <p:spPr/>
        <p:txBody>
          <a:bodyPr/>
          <a:lstStyle/>
          <a:p>
            <a:fld id="{6257F169-01A6-4B1E-A47F-4A7155CB8565}" type="datetime1">
              <a:rPr lang="en-US" smtClean="0"/>
              <a:t>11/22/24</a:t>
            </a:fld>
            <a:endParaRPr lang="en-US"/>
          </a:p>
        </p:txBody>
      </p:sp>
      <p:sp>
        <p:nvSpPr>
          <p:cNvPr id="5" name="Footer Placeholder 4">
            <a:extLst>
              <a:ext uri="{FF2B5EF4-FFF2-40B4-BE49-F238E27FC236}">
                <a16:creationId xmlns:a16="http://schemas.microsoft.com/office/drawing/2014/main" id="{29F9AC5E-374F-1045-8258-855EA19F15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85D3C0-ECB7-4049-B237-A50B432E0FED}"/>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759235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6DFC-FC76-AA41-A84C-F496755B56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AD9D3A-21F0-4E40-8FC1-D9528CD437C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B1EB2C-1ECD-F74F-82EE-AE5338B309F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DE6951-1B67-AD49-8D4D-58FF99B60470}"/>
              </a:ext>
            </a:extLst>
          </p:cNvPr>
          <p:cNvSpPr>
            <a:spLocks noGrp="1"/>
          </p:cNvSpPr>
          <p:nvPr>
            <p:ph type="dt" sz="half" idx="10"/>
          </p:nvPr>
        </p:nvSpPr>
        <p:spPr/>
        <p:txBody>
          <a:bodyPr/>
          <a:lstStyle/>
          <a:p>
            <a:fld id="{84C5E048-CB7C-4B00-84F5-39B102FE9781}" type="datetime1">
              <a:rPr lang="en-US" smtClean="0"/>
              <a:t>11/22/24</a:t>
            </a:fld>
            <a:endParaRPr lang="en-US"/>
          </a:p>
        </p:txBody>
      </p:sp>
      <p:sp>
        <p:nvSpPr>
          <p:cNvPr id="6" name="Footer Placeholder 5">
            <a:extLst>
              <a:ext uri="{FF2B5EF4-FFF2-40B4-BE49-F238E27FC236}">
                <a16:creationId xmlns:a16="http://schemas.microsoft.com/office/drawing/2014/main" id="{3563D3E7-3115-F249-8615-5BB380A36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538C44-679D-054B-A50A-A5F49A6CCFA6}"/>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2220618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D8597-00D1-9C45-A992-045A3BCF3F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D7F22F-BAD6-CA47-956E-3FEB21FD8C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FF811C0-F7D6-D04A-8F95-C9184FC81A4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E68642-809B-9844-B0DC-46C9DDE0D5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F5D80E5-D2D5-4947-934C-B181284E3B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13D0AF-54FC-304C-8CDD-8D6A25A1A156}"/>
              </a:ext>
            </a:extLst>
          </p:cNvPr>
          <p:cNvSpPr>
            <a:spLocks noGrp="1"/>
          </p:cNvSpPr>
          <p:nvPr>
            <p:ph type="dt" sz="half" idx="10"/>
          </p:nvPr>
        </p:nvSpPr>
        <p:spPr/>
        <p:txBody>
          <a:bodyPr/>
          <a:lstStyle/>
          <a:p>
            <a:fld id="{5F5A94CA-0C3F-4F76-B54A-E9C7F5256EFE}" type="datetime1">
              <a:rPr lang="en-US" smtClean="0"/>
              <a:t>11/22/24</a:t>
            </a:fld>
            <a:endParaRPr lang="en-US"/>
          </a:p>
        </p:txBody>
      </p:sp>
      <p:sp>
        <p:nvSpPr>
          <p:cNvPr id="8" name="Footer Placeholder 7">
            <a:extLst>
              <a:ext uri="{FF2B5EF4-FFF2-40B4-BE49-F238E27FC236}">
                <a16:creationId xmlns:a16="http://schemas.microsoft.com/office/drawing/2014/main" id="{FF9F3680-FC12-0948-B162-CF43770055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F586D9-BFB2-DB4B-B83A-08B319119852}"/>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2980404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16FD0-4A21-B64D-8605-6DFE78A653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34D0E3-11DA-8245-88F0-87AC3D4CDA79}"/>
              </a:ext>
            </a:extLst>
          </p:cNvPr>
          <p:cNvSpPr>
            <a:spLocks noGrp="1"/>
          </p:cNvSpPr>
          <p:nvPr>
            <p:ph type="dt" sz="half" idx="10"/>
          </p:nvPr>
        </p:nvSpPr>
        <p:spPr/>
        <p:txBody>
          <a:bodyPr/>
          <a:lstStyle/>
          <a:p>
            <a:fld id="{CD742E04-E4B5-4DFB-A5EF-8521A604DB1B}" type="datetime1">
              <a:rPr lang="en-US" smtClean="0"/>
              <a:t>11/22/24</a:t>
            </a:fld>
            <a:endParaRPr lang="en-US"/>
          </a:p>
        </p:txBody>
      </p:sp>
      <p:sp>
        <p:nvSpPr>
          <p:cNvPr id="4" name="Footer Placeholder 3">
            <a:extLst>
              <a:ext uri="{FF2B5EF4-FFF2-40B4-BE49-F238E27FC236}">
                <a16:creationId xmlns:a16="http://schemas.microsoft.com/office/drawing/2014/main" id="{E7F587B2-78B8-D540-ADCF-B3B99F7E52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52A16A-DDA8-124B-9300-37B5CE13AC1C}"/>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124108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E55749-D3F6-5B40-B60A-AD6835E75C79}"/>
              </a:ext>
            </a:extLst>
          </p:cNvPr>
          <p:cNvSpPr>
            <a:spLocks noGrp="1"/>
          </p:cNvSpPr>
          <p:nvPr>
            <p:ph type="dt" sz="half" idx="10"/>
          </p:nvPr>
        </p:nvSpPr>
        <p:spPr/>
        <p:txBody>
          <a:bodyPr/>
          <a:lstStyle/>
          <a:p>
            <a:fld id="{1203E67E-64DB-4E54-A06D-62800F9BC7D1}" type="datetime1">
              <a:rPr lang="en-US" smtClean="0"/>
              <a:t>11/22/24</a:t>
            </a:fld>
            <a:endParaRPr lang="en-US"/>
          </a:p>
        </p:txBody>
      </p:sp>
      <p:sp>
        <p:nvSpPr>
          <p:cNvPr id="3" name="Footer Placeholder 2">
            <a:extLst>
              <a:ext uri="{FF2B5EF4-FFF2-40B4-BE49-F238E27FC236}">
                <a16:creationId xmlns:a16="http://schemas.microsoft.com/office/drawing/2014/main" id="{74328217-89D3-A345-901C-432A3E87EC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DD66D9-C338-AE44-BBDD-60CB783A1D72}"/>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3584648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EF945-51BE-8E41-A001-8556328E04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D31D16-F809-694B-8A56-EE18EDD3D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6FB139-7CE6-4D46-9C0F-158A6D60CC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A1B1C3C-1F82-DD4C-AC61-765315FA2AEC}"/>
              </a:ext>
            </a:extLst>
          </p:cNvPr>
          <p:cNvSpPr>
            <a:spLocks noGrp="1"/>
          </p:cNvSpPr>
          <p:nvPr>
            <p:ph type="dt" sz="half" idx="10"/>
          </p:nvPr>
        </p:nvSpPr>
        <p:spPr/>
        <p:txBody>
          <a:bodyPr/>
          <a:lstStyle/>
          <a:p>
            <a:fld id="{E7729154-5495-40C2-8C85-6AB210CA44DA}" type="datetime1">
              <a:rPr lang="en-US" smtClean="0"/>
              <a:t>11/22/24</a:t>
            </a:fld>
            <a:endParaRPr lang="en-US"/>
          </a:p>
        </p:txBody>
      </p:sp>
      <p:sp>
        <p:nvSpPr>
          <p:cNvPr id="6" name="Footer Placeholder 5">
            <a:extLst>
              <a:ext uri="{FF2B5EF4-FFF2-40B4-BE49-F238E27FC236}">
                <a16:creationId xmlns:a16="http://schemas.microsoft.com/office/drawing/2014/main" id="{E3865035-F317-3C4F-BE6B-DBA53E9FFB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6CEF8A-E308-904B-8554-2B093BAF3C44}"/>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3870906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1AD82-5A17-3442-A391-EAC94984A3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951955-18A8-AC41-94B9-B2603FDF8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884506-8CF4-5B4E-B0B3-3B52DDCB0D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ED8C3ED-FF8B-274F-9D47-0425A93E8797}"/>
              </a:ext>
            </a:extLst>
          </p:cNvPr>
          <p:cNvSpPr>
            <a:spLocks noGrp="1"/>
          </p:cNvSpPr>
          <p:nvPr>
            <p:ph type="dt" sz="half" idx="10"/>
          </p:nvPr>
        </p:nvSpPr>
        <p:spPr/>
        <p:txBody>
          <a:bodyPr/>
          <a:lstStyle/>
          <a:p>
            <a:fld id="{42467C89-03EF-4D28-9729-C96E9EEC51ED}" type="datetime1">
              <a:rPr lang="en-US" smtClean="0"/>
              <a:t>11/22/24</a:t>
            </a:fld>
            <a:endParaRPr lang="en-US"/>
          </a:p>
        </p:txBody>
      </p:sp>
      <p:sp>
        <p:nvSpPr>
          <p:cNvPr id="6" name="Footer Placeholder 5">
            <a:extLst>
              <a:ext uri="{FF2B5EF4-FFF2-40B4-BE49-F238E27FC236}">
                <a16:creationId xmlns:a16="http://schemas.microsoft.com/office/drawing/2014/main" id="{5CF9DCA7-07CA-7B42-989B-53A2AA2655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3F7C12-4324-B949-8183-E9B72EA48744}"/>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1281941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1FA28-CC45-F14D-ADC5-88A589FABF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1DB90E-8EE2-7442-BE25-64F438EED98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90B67D-8C42-0146-A757-97FBF60C0D1E}"/>
              </a:ext>
            </a:extLst>
          </p:cNvPr>
          <p:cNvSpPr>
            <a:spLocks noGrp="1"/>
          </p:cNvSpPr>
          <p:nvPr>
            <p:ph type="dt" sz="half" idx="10"/>
          </p:nvPr>
        </p:nvSpPr>
        <p:spPr/>
        <p:txBody>
          <a:bodyPr/>
          <a:lstStyle/>
          <a:p>
            <a:fld id="{FDEFCB42-DC1C-4C4F-8BF5-58C19F445211}" type="datetime1">
              <a:rPr lang="en-US" smtClean="0"/>
              <a:t>11/22/24</a:t>
            </a:fld>
            <a:endParaRPr lang="en-US"/>
          </a:p>
        </p:txBody>
      </p:sp>
      <p:sp>
        <p:nvSpPr>
          <p:cNvPr id="5" name="Footer Placeholder 4">
            <a:extLst>
              <a:ext uri="{FF2B5EF4-FFF2-40B4-BE49-F238E27FC236}">
                <a16:creationId xmlns:a16="http://schemas.microsoft.com/office/drawing/2014/main" id="{D18E126A-6778-D041-A7E0-9E73492BF2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B0A5F1-74BE-7F4C-BAE9-5E0A21738CEA}"/>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2776973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230DE2-B4E8-9542-A63A-021B233376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5F23E2-9DA6-7745-8D21-1B636935695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8D683C-E1FF-4F43-8D98-C271E6D7395A}"/>
              </a:ext>
            </a:extLst>
          </p:cNvPr>
          <p:cNvSpPr>
            <a:spLocks noGrp="1"/>
          </p:cNvSpPr>
          <p:nvPr>
            <p:ph type="dt" sz="half" idx="10"/>
          </p:nvPr>
        </p:nvSpPr>
        <p:spPr/>
        <p:txBody>
          <a:bodyPr/>
          <a:lstStyle/>
          <a:p>
            <a:fld id="{77B87E0D-AFDA-459C-902A-77C930534CBF}" type="datetime1">
              <a:rPr lang="en-US" smtClean="0"/>
              <a:t>11/22/24</a:t>
            </a:fld>
            <a:endParaRPr lang="en-US"/>
          </a:p>
        </p:txBody>
      </p:sp>
      <p:sp>
        <p:nvSpPr>
          <p:cNvPr id="5" name="Footer Placeholder 4">
            <a:extLst>
              <a:ext uri="{FF2B5EF4-FFF2-40B4-BE49-F238E27FC236}">
                <a16:creationId xmlns:a16="http://schemas.microsoft.com/office/drawing/2014/main" id="{F640DC9B-8287-2E43-BFC8-208D4D3CB8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2AD24-758C-044A-BF6A-2B1330BB7B59}"/>
              </a:ext>
            </a:extLst>
          </p:cNvPr>
          <p:cNvSpPr>
            <a:spLocks noGrp="1"/>
          </p:cNvSpPr>
          <p:nvPr>
            <p:ph type="sldNum" sz="quarter" idx="12"/>
          </p:nvPr>
        </p:nvSpPr>
        <p:spPr/>
        <p:txBody>
          <a:bodyPr/>
          <a:lstStyle/>
          <a:p>
            <a:fld id="{F860F34E-4A79-A240-AEA8-3E29BB228B1B}" type="slidenum">
              <a:rPr lang="en-US" smtClean="0"/>
              <a:t>‹#›</a:t>
            </a:fld>
            <a:endParaRPr lang="en-US"/>
          </a:p>
        </p:txBody>
      </p:sp>
    </p:spTree>
    <p:extLst>
      <p:ext uri="{BB962C8B-B14F-4D97-AF65-F5344CB8AC3E}">
        <p14:creationId xmlns:p14="http://schemas.microsoft.com/office/powerpoint/2010/main" val="4024095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9732FA-7F9B-6447-A218-D2AAD07F08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FBFB8C-7133-5948-A11E-0C2B393FA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88C691-56B7-4549-B5F1-C735DF3E2A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B92BCB-8B05-4411-A8CB-9FBE5DB08B39}" type="datetime1">
              <a:rPr lang="en-US" smtClean="0"/>
              <a:t>11/22/24</a:t>
            </a:fld>
            <a:endParaRPr lang="en-US"/>
          </a:p>
        </p:txBody>
      </p:sp>
      <p:sp>
        <p:nvSpPr>
          <p:cNvPr id="5" name="Footer Placeholder 4">
            <a:extLst>
              <a:ext uri="{FF2B5EF4-FFF2-40B4-BE49-F238E27FC236}">
                <a16:creationId xmlns:a16="http://schemas.microsoft.com/office/drawing/2014/main" id="{340FC477-BFEF-6A40-8A64-F22652C6F8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C3B950F-F683-5649-A761-C180536A30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60F34E-4A79-A240-AEA8-3E29BB228B1B}" type="slidenum">
              <a:rPr lang="en-US" smtClean="0"/>
              <a:t>‹#›</a:t>
            </a:fld>
            <a:endParaRPr lang="en-US"/>
          </a:p>
        </p:txBody>
      </p:sp>
    </p:spTree>
    <p:extLst>
      <p:ext uri="{BB962C8B-B14F-4D97-AF65-F5344CB8AC3E}">
        <p14:creationId xmlns:p14="http://schemas.microsoft.com/office/powerpoint/2010/main" val="789863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hyperlink" Target="https://doi.org/10.1016/j.mayocp.2015.08.023" TargetMode="Externa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hyperlink" Target="https://springernature.figshare.com/articles/dataset/Collection_of_simulated_medical_exams/16550013?file=30598530" TargetMode="Externa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9.gif"/></Relationships>
</file>

<file path=ppt/slides/_rels/slide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31219/osf.io/9fue8" TargetMode="External"/><Relationship Id="rId2" Type="http://schemas.openxmlformats.org/officeDocument/2006/relationships/hyperlink" Target="https://doi.org/10.21437/interspeech.2018-40" TargetMode="Externa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hyperlink" Target="https://medicalbott.streamlit.app/" TargetMode="External"/><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D3AACC9-6128-D644-BB32-5E823AB3C0A4}"/>
              </a:ext>
            </a:extLst>
          </p:cNvPr>
          <p:cNvPicPr>
            <a:picLocks noChangeAspect="1"/>
          </p:cNvPicPr>
          <p:nvPr/>
        </p:nvPicPr>
        <p:blipFill>
          <a:blip r:embed="rId2"/>
          <a:stretch>
            <a:fillRect/>
          </a:stretch>
        </p:blipFill>
        <p:spPr>
          <a:xfrm>
            <a:off x="4357445" y="1982512"/>
            <a:ext cx="3092980" cy="1037280"/>
          </a:xfrm>
          <a:prstGeom prst="rect">
            <a:avLst/>
          </a:prstGeom>
        </p:spPr>
      </p:pic>
      <p:sp>
        <p:nvSpPr>
          <p:cNvPr id="9" name="Rectangle 8">
            <a:extLst>
              <a:ext uri="{FF2B5EF4-FFF2-40B4-BE49-F238E27FC236}">
                <a16:creationId xmlns:a16="http://schemas.microsoft.com/office/drawing/2014/main" id="{E850BB8E-98B9-0443-9518-BB0B496E8AF5}"/>
              </a:ext>
            </a:extLst>
          </p:cNvPr>
          <p:cNvSpPr/>
          <p:nvPr/>
        </p:nvSpPr>
        <p:spPr>
          <a:xfrm>
            <a:off x="0" y="281388"/>
            <a:ext cx="12192000" cy="5866726"/>
          </a:xfrm>
          <a:prstGeom prst="rect">
            <a:avLst/>
          </a:prstGeom>
          <a:gradFill flip="none" rotWithShape="1">
            <a:gsLst>
              <a:gs pos="0">
                <a:srgbClr val="00A44E"/>
              </a:gs>
              <a:gs pos="100000">
                <a:srgbClr val="004A24"/>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Subtitle 2">
            <a:extLst>
              <a:ext uri="{FF2B5EF4-FFF2-40B4-BE49-F238E27FC236}">
                <a16:creationId xmlns:a16="http://schemas.microsoft.com/office/drawing/2014/main" id="{9F5A9FDE-E9C9-EC40-9ACD-E0B75041F0CA}"/>
              </a:ext>
            </a:extLst>
          </p:cNvPr>
          <p:cNvSpPr>
            <a:spLocks noGrp="1"/>
          </p:cNvSpPr>
          <p:nvPr>
            <p:ph type="subTitle" idx="1"/>
          </p:nvPr>
        </p:nvSpPr>
        <p:spPr>
          <a:xfrm>
            <a:off x="7003227" y="3906038"/>
            <a:ext cx="5086141" cy="1771759"/>
          </a:xfrm>
        </p:spPr>
        <p:txBody>
          <a:bodyPr>
            <a:normAutofit fontScale="85000" lnSpcReduction="20000"/>
          </a:bodyPr>
          <a:lstStyle/>
          <a:p>
            <a:pPr>
              <a:spcBef>
                <a:spcPts val="1600"/>
              </a:spcBef>
            </a:pPr>
            <a:r>
              <a:rPr lang="en-US" sz="2900" dirty="0">
                <a:solidFill>
                  <a:schemeClr val="bg1"/>
                </a:solidFill>
                <a:latin typeface="Times New Roman" panose="02020603050405020304" pitchFamily="18" charset="0"/>
                <a:cs typeface="Times New Roman" panose="02020603050405020304" pitchFamily="18" charset="0"/>
              </a:rPr>
              <a:t>Surya Teja </a:t>
            </a:r>
            <a:r>
              <a:rPr lang="en-US" sz="2900" dirty="0" err="1">
                <a:solidFill>
                  <a:schemeClr val="bg1"/>
                </a:solidFill>
                <a:latin typeface="Times New Roman" panose="02020603050405020304" pitchFamily="18" charset="0"/>
                <a:cs typeface="Times New Roman" panose="02020603050405020304" pitchFamily="18" charset="0"/>
              </a:rPr>
              <a:t>Nagamalla</a:t>
            </a:r>
            <a:r>
              <a:rPr lang="en-US" sz="2900" dirty="0">
                <a:solidFill>
                  <a:schemeClr val="bg1"/>
                </a:solidFill>
                <a:latin typeface="Times New Roman" panose="02020603050405020304" pitchFamily="18" charset="0"/>
                <a:cs typeface="Times New Roman" panose="02020603050405020304" pitchFamily="18" charset="0"/>
              </a:rPr>
              <a:t>- 11638368</a:t>
            </a:r>
          </a:p>
          <a:p>
            <a:pPr>
              <a:spcBef>
                <a:spcPts val="1600"/>
              </a:spcBef>
            </a:pPr>
            <a:r>
              <a:rPr lang="en-US" sz="2900" dirty="0">
                <a:solidFill>
                  <a:schemeClr val="bg1"/>
                </a:solidFill>
                <a:latin typeface="Times New Roman" panose="02020603050405020304" pitchFamily="18" charset="0"/>
                <a:cs typeface="Times New Roman" panose="02020603050405020304" pitchFamily="18" charset="0"/>
              </a:rPr>
              <a:t>Tarun Konda- 11634184</a:t>
            </a:r>
          </a:p>
          <a:p>
            <a:pPr>
              <a:spcBef>
                <a:spcPts val="1600"/>
              </a:spcBef>
            </a:pPr>
            <a:r>
              <a:rPr lang="en-US" sz="2900" dirty="0">
                <a:solidFill>
                  <a:schemeClr val="bg1"/>
                </a:solidFill>
                <a:latin typeface="Times New Roman" panose="02020603050405020304" pitchFamily="18" charset="0"/>
                <a:cs typeface="Times New Roman" panose="02020603050405020304" pitchFamily="18" charset="0"/>
              </a:rPr>
              <a:t>Kalyan Chakravarthy Paleti-11631405</a:t>
            </a:r>
          </a:p>
          <a:p>
            <a:pPr>
              <a:spcBef>
                <a:spcPts val="1600"/>
              </a:spcBef>
            </a:pPr>
            <a:r>
              <a:rPr lang="en-US" sz="2900" b="1" dirty="0">
                <a:solidFill>
                  <a:schemeClr val="bg1"/>
                </a:solidFill>
                <a:latin typeface="Times New Roman" panose="02020603050405020304" pitchFamily="18" charset="0"/>
                <a:cs typeface="Times New Roman" panose="02020603050405020304" pitchFamily="18" charset="0"/>
              </a:rPr>
              <a:t>INFO 5082:Team 16</a:t>
            </a:r>
          </a:p>
          <a:p>
            <a:pPr>
              <a:spcBef>
                <a:spcPts val="0"/>
              </a:spcBef>
            </a:pPr>
            <a:endParaRPr lang="en-US" sz="1400" dirty="0">
              <a:solidFill>
                <a:schemeClr val="bg1"/>
              </a:solidFill>
              <a:latin typeface="+mj-lt"/>
            </a:endParaRPr>
          </a:p>
          <a:p>
            <a:pPr>
              <a:spcBef>
                <a:spcPts val="0"/>
              </a:spcBef>
            </a:pPr>
            <a:endParaRPr lang="en-US" sz="1400" dirty="0">
              <a:solidFill>
                <a:schemeClr val="bg1"/>
              </a:solidFill>
              <a:latin typeface="+mj-lt"/>
            </a:endParaRPr>
          </a:p>
        </p:txBody>
      </p:sp>
      <p:pic>
        <p:nvPicPr>
          <p:cNvPr id="2" name="Picture 1">
            <a:extLst>
              <a:ext uri="{FF2B5EF4-FFF2-40B4-BE49-F238E27FC236}">
                <a16:creationId xmlns:a16="http://schemas.microsoft.com/office/drawing/2014/main" id="{C04D1D62-CFD6-D946-AAA1-A9E54335DC98}"/>
              </a:ext>
            </a:extLst>
          </p:cNvPr>
          <p:cNvPicPr>
            <a:picLocks noChangeAspect="1"/>
          </p:cNvPicPr>
          <p:nvPr/>
        </p:nvPicPr>
        <p:blipFill>
          <a:blip r:embed="rId3"/>
          <a:stretch>
            <a:fillRect/>
          </a:stretch>
        </p:blipFill>
        <p:spPr>
          <a:xfrm>
            <a:off x="4209164" y="281388"/>
            <a:ext cx="2999092" cy="2999092"/>
          </a:xfrm>
          <a:prstGeom prst="rect">
            <a:avLst/>
          </a:prstGeom>
        </p:spPr>
      </p:pic>
      <p:sp>
        <p:nvSpPr>
          <p:cNvPr id="3" name="Slide Number Placeholder 2">
            <a:extLst>
              <a:ext uri="{FF2B5EF4-FFF2-40B4-BE49-F238E27FC236}">
                <a16:creationId xmlns:a16="http://schemas.microsoft.com/office/drawing/2014/main" id="{A7150409-2749-4E4A-AEA0-DAA2D0507C4D}"/>
              </a:ext>
            </a:extLst>
          </p:cNvPr>
          <p:cNvSpPr>
            <a:spLocks noGrp="1"/>
          </p:cNvSpPr>
          <p:nvPr>
            <p:ph type="sldNum" sz="quarter" idx="12"/>
          </p:nvPr>
        </p:nvSpPr>
        <p:spPr/>
        <p:txBody>
          <a:bodyPr/>
          <a:lstStyle/>
          <a:p>
            <a:fld id="{F860F34E-4A79-A240-AEA8-3E29BB228B1B}" type="slidenum">
              <a:rPr lang="en-US" smtClean="0"/>
              <a:t>1</a:t>
            </a:fld>
            <a:endParaRPr lang="en-US"/>
          </a:p>
        </p:txBody>
      </p:sp>
      <p:sp>
        <p:nvSpPr>
          <p:cNvPr id="5" name="TextBox 4">
            <a:extLst>
              <a:ext uri="{FF2B5EF4-FFF2-40B4-BE49-F238E27FC236}">
                <a16:creationId xmlns:a16="http://schemas.microsoft.com/office/drawing/2014/main" id="{5E8612D8-EB1F-DC89-D332-24C6744864AF}"/>
              </a:ext>
            </a:extLst>
          </p:cNvPr>
          <p:cNvSpPr txBox="1"/>
          <p:nvPr/>
        </p:nvSpPr>
        <p:spPr>
          <a:xfrm>
            <a:off x="2462620" y="3419123"/>
            <a:ext cx="6147980" cy="406330"/>
          </a:xfrm>
          <a:prstGeom prst="rect">
            <a:avLst/>
          </a:prstGeom>
          <a:noFill/>
        </p:spPr>
        <p:txBody>
          <a:bodyPr wrap="square">
            <a:spAutoFit/>
          </a:bodyPr>
          <a:lstStyle/>
          <a:p>
            <a:pPr marL="0" indent="0" algn="ctr">
              <a:lnSpc>
                <a:spcPct val="110000"/>
              </a:lnSpc>
              <a:buNone/>
            </a:pPr>
            <a:r>
              <a:rPr lang="en-IN" sz="2000" b="1" i="0" u="none" strike="noStrike" dirty="0">
                <a:effectLst/>
                <a:latin typeface="Times New Roman" panose="02020603050405020304" pitchFamily="18" charset="0"/>
                <a:cs typeface="Times New Roman" panose="02020603050405020304" pitchFamily="18" charset="0"/>
              </a:rPr>
              <a:t>Medi Connect AI</a:t>
            </a:r>
          </a:p>
        </p:txBody>
      </p:sp>
      <p:sp>
        <p:nvSpPr>
          <p:cNvPr id="6" name="TextBox 5">
            <a:extLst>
              <a:ext uri="{FF2B5EF4-FFF2-40B4-BE49-F238E27FC236}">
                <a16:creationId xmlns:a16="http://schemas.microsoft.com/office/drawing/2014/main" id="{6A889D82-1E51-D1AB-32D0-4E2DC5C1C209}"/>
              </a:ext>
            </a:extLst>
          </p:cNvPr>
          <p:cNvSpPr txBox="1"/>
          <p:nvPr/>
        </p:nvSpPr>
        <p:spPr>
          <a:xfrm>
            <a:off x="231579" y="3799668"/>
            <a:ext cx="4125866" cy="3693319"/>
          </a:xfrm>
          <a:prstGeom prst="rect">
            <a:avLst/>
          </a:prstGeom>
          <a:noFill/>
        </p:spPr>
        <p:txBody>
          <a:bodyPr wrap="square" rtlCol="0">
            <a:spAutoFit/>
          </a:bodyPr>
          <a:lstStyle/>
          <a:p>
            <a:r>
              <a:rPr lang="en-US" sz="2000" dirty="0">
                <a:solidFill>
                  <a:schemeClr val="bg1"/>
                </a:solidFill>
                <a:latin typeface="Times New Roman" panose="02020603050405020304" pitchFamily="18" charset="0"/>
                <a:cs typeface="Times New Roman" panose="02020603050405020304" pitchFamily="18" charset="0"/>
              </a:rPr>
              <a:t>Under the guidance of:</a:t>
            </a:r>
            <a:br>
              <a:rPr lang="en-US" sz="2000" dirty="0">
                <a:solidFill>
                  <a:schemeClr val="bg1"/>
                </a:solidFill>
                <a:latin typeface="Times New Roman" panose="02020603050405020304" pitchFamily="18" charset="0"/>
                <a:cs typeface="Times New Roman" panose="02020603050405020304" pitchFamily="18" charset="0"/>
              </a:rPr>
            </a:br>
            <a:r>
              <a:rPr lang="en-US" sz="2000" dirty="0">
                <a:solidFill>
                  <a:schemeClr val="bg1"/>
                </a:solidFill>
                <a:latin typeface="Times New Roman" panose="02020603050405020304" pitchFamily="18" charset="0"/>
                <a:cs typeface="Times New Roman" panose="02020603050405020304" pitchFamily="18" charset="0"/>
              </a:rPr>
              <a:t>Dr. Stephen Wheeler, </a:t>
            </a:r>
            <a:r>
              <a:rPr lang="en-US" sz="2000" dirty="0" err="1">
                <a:solidFill>
                  <a:schemeClr val="bg1"/>
                </a:solidFill>
                <a:latin typeface="Times New Roman" panose="02020603050405020304" pitchFamily="18" charset="0"/>
                <a:cs typeface="Times New Roman" panose="02020603050405020304" pitchFamily="18" charset="0"/>
              </a:rPr>
              <a:t>Ph.D</a:t>
            </a:r>
            <a:endParaRPr lang="en-US" sz="2000" dirty="0">
              <a:solidFill>
                <a:schemeClr val="bg1"/>
              </a:solidFill>
              <a:latin typeface="Times New Roman" panose="02020603050405020304" pitchFamily="18" charset="0"/>
              <a:cs typeface="Times New Roman" panose="02020603050405020304" pitchFamily="18" charset="0"/>
            </a:endParaRPr>
          </a:p>
          <a:p>
            <a:r>
              <a:rPr lang="en-US" sz="2000" dirty="0">
                <a:solidFill>
                  <a:schemeClr val="bg1"/>
                </a:solidFill>
                <a:latin typeface="Times New Roman" panose="02020603050405020304" pitchFamily="18" charset="0"/>
                <a:cs typeface="Times New Roman" panose="02020603050405020304" pitchFamily="18" charset="0"/>
              </a:rPr>
              <a:t>Clinical Assistant Professor </a:t>
            </a:r>
          </a:p>
          <a:p>
            <a:pPr algn="l"/>
            <a:r>
              <a:rPr lang="en-US" sz="2000" dirty="0">
                <a:solidFill>
                  <a:schemeClr val="bg1"/>
                </a:solidFill>
                <a:latin typeface="Times New Roman" panose="02020603050405020304" pitchFamily="18" charset="0"/>
                <a:cs typeface="Times New Roman" panose="02020603050405020304" pitchFamily="18" charset="0"/>
              </a:rPr>
              <a:t>College of Information  &amp;</a:t>
            </a:r>
          </a:p>
          <a:p>
            <a:pPr algn="l"/>
            <a:endParaRPr lang="en-US" sz="2000" dirty="0">
              <a:solidFill>
                <a:schemeClr val="bg1"/>
              </a:solidFill>
              <a:latin typeface="Times New Roman" panose="02020603050405020304" pitchFamily="18" charset="0"/>
              <a:cs typeface="Times New Roman" panose="02020603050405020304" pitchFamily="18" charset="0"/>
            </a:endParaRPr>
          </a:p>
          <a:p>
            <a:pPr algn="l"/>
            <a:r>
              <a:rPr lang="en-US" sz="2000" dirty="0">
                <a:solidFill>
                  <a:schemeClr val="bg1"/>
                </a:solidFill>
                <a:latin typeface="Times New Roman" panose="02020603050405020304" pitchFamily="18" charset="0"/>
                <a:cs typeface="Times New Roman" panose="02020603050405020304" pitchFamily="18" charset="0"/>
              </a:rPr>
              <a:t>Ravi Varma Kumar </a:t>
            </a:r>
            <a:r>
              <a:rPr lang="en-US" sz="2000" dirty="0" err="1">
                <a:solidFill>
                  <a:schemeClr val="bg1"/>
                </a:solidFill>
                <a:latin typeface="Times New Roman" panose="02020603050405020304" pitchFamily="18" charset="0"/>
                <a:cs typeface="Times New Roman" panose="02020603050405020304" pitchFamily="18" charset="0"/>
              </a:rPr>
              <a:t>Bevara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Ph.D</a:t>
            </a:r>
            <a:endParaRPr lang="en-US" sz="2000" dirty="0">
              <a:solidFill>
                <a:schemeClr val="bg1"/>
              </a:solidFill>
              <a:latin typeface="Times New Roman" panose="02020603050405020304" pitchFamily="18" charset="0"/>
              <a:cs typeface="Times New Roman" panose="02020603050405020304" pitchFamily="18" charset="0"/>
            </a:endParaRPr>
          </a:p>
          <a:p>
            <a:pPr algn="l"/>
            <a:r>
              <a:rPr lang="en-US" sz="2000" dirty="0">
                <a:solidFill>
                  <a:schemeClr val="bg1"/>
                </a:solidFill>
                <a:latin typeface="Times New Roman" panose="02020603050405020304" pitchFamily="18" charset="0"/>
                <a:cs typeface="Times New Roman" panose="02020603050405020304" pitchFamily="18" charset="0"/>
              </a:rPr>
              <a:t>Department of Data Science.</a:t>
            </a:r>
          </a:p>
          <a:p>
            <a:pPr algn="l"/>
            <a:r>
              <a:rPr lang="en-US" sz="2000" dirty="0">
                <a:solidFill>
                  <a:schemeClr val="bg1"/>
                </a:solidFill>
                <a:latin typeface="Times New Roman" panose="02020603050405020304" pitchFamily="18" charset="0"/>
                <a:cs typeface="Times New Roman" panose="02020603050405020304" pitchFamily="18" charset="0"/>
              </a:rPr>
              <a:t> </a:t>
            </a:r>
          </a:p>
          <a:p>
            <a:endParaRPr lang="en-US" sz="2000" dirty="0">
              <a:solidFill>
                <a:schemeClr val="bg1"/>
              </a:solidFill>
              <a:latin typeface="Times New Roman" panose="02020603050405020304" pitchFamily="18" charset="0"/>
              <a:cs typeface="Times New Roman" panose="02020603050405020304" pitchFamily="18" charset="0"/>
            </a:endParaRPr>
          </a:p>
          <a:p>
            <a:br>
              <a:rPr lang="en-US" dirty="0"/>
            </a:br>
            <a:endParaRPr lang="en-US" dirty="0"/>
          </a:p>
          <a:p>
            <a:endParaRPr lang="en-US" dirty="0"/>
          </a:p>
        </p:txBody>
      </p:sp>
    </p:spTree>
    <p:extLst>
      <p:ext uri="{BB962C8B-B14F-4D97-AF65-F5344CB8AC3E}">
        <p14:creationId xmlns:p14="http://schemas.microsoft.com/office/powerpoint/2010/main" val="3088161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DB1086-1365-B942-BFE2-A2552509A3D9}"/>
              </a:ext>
            </a:extLst>
          </p:cNvPr>
          <p:cNvSpPr>
            <a:spLocks noGrp="1"/>
          </p:cNvSpPr>
          <p:nvPr>
            <p:ph idx="1"/>
          </p:nvPr>
        </p:nvSpPr>
        <p:spPr>
          <a:xfrm>
            <a:off x="573189" y="1227952"/>
            <a:ext cx="10677965" cy="4402095"/>
          </a:xfrm>
        </p:spPr>
        <p:txBody>
          <a:bodyPr>
            <a:normAutofit/>
          </a:bodyPr>
          <a:lstStyle/>
          <a:p>
            <a:pPr algn="l">
              <a:buFont typeface="+mj-lt"/>
              <a:buAutoNum type="arabicPeriod"/>
            </a:pPr>
            <a:r>
              <a:rPr lang="en-US" sz="2000" b="0" i="0" dirty="0">
                <a:solidFill>
                  <a:srgbClr val="333333"/>
                </a:solidFill>
                <a:effectLst/>
                <a:latin typeface="Times New Roman" panose="02020603050405020304" pitchFamily="18" charset="0"/>
                <a:cs typeface="Times New Roman" panose="02020603050405020304" pitchFamily="18" charset="0"/>
              </a:rPr>
              <a:t>Title</a:t>
            </a:r>
          </a:p>
          <a:p>
            <a:pPr algn="l">
              <a:buFont typeface="+mj-lt"/>
              <a:buAutoNum type="arabicPeriod"/>
            </a:pPr>
            <a:r>
              <a:rPr lang="en-US" sz="2000" dirty="0">
                <a:solidFill>
                  <a:srgbClr val="333333"/>
                </a:solidFill>
                <a:latin typeface="Times New Roman" panose="02020603050405020304" pitchFamily="18" charset="0"/>
                <a:cs typeface="Times New Roman" panose="02020603050405020304" pitchFamily="18" charset="0"/>
              </a:rPr>
              <a:t>Introduction</a:t>
            </a:r>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000" dirty="0">
                <a:solidFill>
                  <a:srgbClr val="333333"/>
                </a:solidFill>
                <a:latin typeface="Times New Roman" panose="02020603050405020304" pitchFamily="18" charset="0"/>
                <a:cs typeface="Times New Roman" panose="02020603050405020304" pitchFamily="18" charset="0"/>
              </a:rPr>
              <a:t>Challenges or Motivation</a:t>
            </a:r>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000" b="0" i="0" dirty="0">
                <a:solidFill>
                  <a:srgbClr val="333333"/>
                </a:solidFill>
                <a:effectLst/>
                <a:latin typeface="Times New Roman" panose="02020603050405020304" pitchFamily="18" charset="0"/>
                <a:cs typeface="Times New Roman" panose="02020603050405020304" pitchFamily="18" charset="0"/>
              </a:rPr>
              <a:t>Related Literature Survey</a:t>
            </a:r>
          </a:p>
          <a:p>
            <a:pPr algn="l">
              <a:buFont typeface="+mj-lt"/>
              <a:buAutoNum type="arabicPeriod"/>
            </a:pPr>
            <a:r>
              <a:rPr lang="en-US" sz="2000" dirty="0">
                <a:solidFill>
                  <a:srgbClr val="333333"/>
                </a:solidFill>
                <a:latin typeface="Times New Roman" panose="02020603050405020304" pitchFamily="18" charset="0"/>
                <a:cs typeface="Times New Roman" panose="02020603050405020304" pitchFamily="18" charset="0"/>
              </a:rPr>
              <a:t>Proposed Methodology</a:t>
            </a:r>
          </a:p>
          <a:p>
            <a:pPr algn="l">
              <a:buFont typeface="+mj-lt"/>
              <a:buAutoNum type="arabicPeriod"/>
            </a:pPr>
            <a:r>
              <a:rPr lang="en-US" sz="2000" b="0" i="0" dirty="0">
                <a:solidFill>
                  <a:srgbClr val="333333"/>
                </a:solidFill>
                <a:effectLst/>
                <a:latin typeface="Times New Roman" panose="02020603050405020304" pitchFamily="18" charset="0"/>
                <a:cs typeface="Times New Roman" panose="02020603050405020304" pitchFamily="18" charset="0"/>
              </a:rPr>
              <a:t>Contributions</a:t>
            </a:r>
          </a:p>
          <a:p>
            <a:pPr>
              <a:buFont typeface="+mj-lt"/>
              <a:buAutoNum type="arabicPeriod"/>
            </a:pPr>
            <a:r>
              <a:rPr lang="en-US" sz="2000" b="0" i="0" dirty="0">
                <a:solidFill>
                  <a:srgbClr val="333333"/>
                </a:solidFill>
                <a:effectLst/>
                <a:latin typeface="Times New Roman" panose="02020603050405020304" pitchFamily="18" charset="0"/>
                <a:cs typeface="Times New Roman" panose="02020603050405020304" pitchFamily="18" charset="0"/>
              </a:rPr>
              <a:t>Data </a:t>
            </a:r>
            <a:r>
              <a:rPr lang="en-US" sz="2000" dirty="0">
                <a:solidFill>
                  <a:srgbClr val="333333"/>
                </a:solidFill>
                <a:latin typeface="Times New Roman" panose="02020603050405020304" pitchFamily="18" charset="0"/>
                <a:cs typeface="Times New Roman" panose="02020603050405020304" pitchFamily="18" charset="0"/>
              </a:rPr>
              <a:t>Description</a:t>
            </a:r>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000" b="0" i="0">
                <a:solidFill>
                  <a:srgbClr val="333333"/>
                </a:solidFill>
                <a:effectLst/>
                <a:latin typeface="Times New Roman" panose="02020603050405020304" pitchFamily="18" charset="0"/>
                <a:cs typeface="Times New Roman" panose="02020603050405020304" pitchFamily="18" charset="0"/>
              </a:rPr>
              <a:t>Model </a:t>
            </a:r>
            <a:r>
              <a:rPr lang="en-US" sz="2000" b="0" i="0" dirty="0">
                <a:solidFill>
                  <a:srgbClr val="333333"/>
                </a:solidFill>
                <a:effectLst/>
                <a:latin typeface="Times New Roman" panose="02020603050405020304" pitchFamily="18" charset="0"/>
                <a:cs typeface="Times New Roman" panose="02020603050405020304" pitchFamily="18" charset="0"/>
              </a:rPr>
              <a:t>Building</a:t>
            </a:r>
          </a:p>
          <a:p>
            <a:pPr algn="l">
              <a:buFont typeface="+mj-lt"/>
              <a:buAutoNum type="arabicPeriod"/>
            </a:pPr>
            <a:r>
              <a:rPr lang="en-US" sz="2000" dirty="0">
                <a:solidFill>
                  <a:srgbClr val="333333"/>
                </a:solidFill>
                <a:latin typeface="Times New Roman" panose="02020603050405020304" pitchFamily="18" charset="0"/>
                <a:cs typeface="Times New Roman" panose="02020603050405020304" pitchFamily="18" charset="0"/>
              </a:rPr>
              <a:t>Our Work</a:t>
            </a:r>
            <a:endParaRPr lang="en-US" sz="2000" b="0" i="0" dirty="0">
              <a:solidFill>
                <a:srgbClr val="333333"/>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000" dirty="0">
                <a:solidFill>
                  <a:srgbClr val="333333"/>
                </a:solidFill>
                <a:latin typeface="Times New Roman" panose="02020603050405020304" pitchFamily="18" charset="0"/>
                <a:cs typeface="Times New Roman" panose="02020603050405020304" pitchFamily="18" charset="0"/>
              </a:rPr>
              <a:t>Conclusion</a:t>
            </a:r>
          </a:p>
          <a:p>
            <a:pPr algn="l">
              <a:buFont typeface="+mj-lt"/>
              <a:buAutoNum type="arabicPeriod"/>
            </a:pPr>
            <a:r>
              <a:rPr lang="en-US" sz="2000" b="0" i="0" dirty="0">
                <a:solidFill>
                  <a:srgbClr val="333333"/>
                </a:solidFill>
                <a:effectLst/>
                <a:latin typeface="Times New Roman" panose="02020603050405020304" pitchFamily="18" charset="0"/>
                <a:cs typeface="Times New Roman" panose="02020603050405020304" pitchFamily="18" charset="0"/>
              </a:rPr>
              <a:t>References</a:t>
            </a:r>
          </a:p>
        </p:txBody>
      </p:sp>
      <p:pic>
        <p:nvPicPr>
          <p:cNvPr id="9" name="Picture 8">
            <a:extLst>
              <a:ext uri="{FF2B5EF4-FFF2-40B4-BE49-F238E27FC236}">
                <a16:creationId xmlns:a16="http://schemas.microsoft.com/office/drawing/2014/main" id="{ECB6D677-D81E-484B-BFB8-CF94D1CE1711}"/>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A9B30FB0-FF45-D042-89A3-79367CD4EE43}"/>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A7AD38CC-4F1C-48A1-AB51-7AEC952911E0}"/>
              </a:ext>
            </a:extLst>
          </p:cNvPr>
          <p:cNvSpPr>
            <a:spLocks noGrp="1"/>
          </p:cNvSpPr>
          <p:nvPr>
            <p:ph type="title"/>
          </p:nvPr>
        </p:nvSpPr>
        <p:spPr>
          <a:xfrm>
            <a:off x="573189" y="391177"/>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Agenda</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4896B3D-642C-4784-AEDF-18C0033657CC}"/>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2</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FCE540F-EFD2-B263-73F9-74C852E1E823}"/>
              </a:ext>
            </a:extLst>
          </p:cNvPr>
          <p:cNvSpPr txBox="1"/>
          <p:nvPr/>
        </p:nvSpPr>
        <p:spPr>
          <a:xfrm>
            <a:off x="2730674" y="7766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040071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87395-F358-F870-6BCC-D9F6BEEBBE3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113FF5-33C1-E54C-2003-000AD673C075}"/>
              </a:ext>
            </a:extLst>
          </p:cNvPr>
          <p:cNvSpPr>
            <a:spLocks noGrp="1"/>
          </p:cNvSpPr>
          <p:nvPr>
            <p:ph idx="1"/>
          </p:nvPr>
        </p:nvSpPr>
        <p:spPr>
          <a:xfrm>
            <a:off x="573189" y="1927654"/>
            <a:ext cx="10677965" cy="3702393"/>
          </a:xfrm>
        </p:spPr>
        <p:txBody>
          <a:bodyPr>
            <a:normAutofit/>
          </a:bodyPr>
          <a:lstStyle/>
          <a:p>
            <a:r>
              <a:rPr lang="en-US" sz="2000" dirty="0">
                <a:latin typeface="Times New Roman" panose="02020603050405020304" pitchFamily="18" charset="0"/>
                <a:cs typeface="Times New Roman" panose="02020603050405020304" pitchFamily="18" charset="0"/>
              </a:rPr>
              <a:t>Healthcare profit pools will grow at a 7% CAGR (from $583 billion in 2022 to $819 billion in 2027.)</a:t>
            </a:r>
          </a:p>
          <a:p>
            <a:r>
              <a:rPr lang="en-US" sz="2000" dirty="0">
                <a:latin typeface="Times New Roman" panose="02020603050405020304" pitchFamily="18" charset="0"/>
                <a:cs typeface="Times New Roman" panose="02020603050405020304" pitchFamily="18" charset="0"/>
              </a:rPr>
              <a:t>There is a growing need of healthcare professionals.</a:t>
            </a:r>
          </a:p>
          <a:p>
            <a:r>
              <a:rPr lang="en-US" sz="2000" dirty="0" err="1">
                <a:latin typeface="Times New Roman" panose="02020603050405020304" pitchFamily="18" charset="0"/>
                <a:cs typeface="Times New Roman" panose="02020603050405020304" pitchFamily="18" charset="0"/>
              </a:rPr>
              <a:t>Mediconnect</a:t>
            </a:r>
            <a:r>
              <a:rPr lang="en-US" sz="2000" dirty="0">
                <a:latin typeface="Times New Roman" panose="02020603050405020304" pitchFamily="18" charset="0"/>
                <a:cs typeface="Times New Roman" panose="02020603050405020304" pitchFamily="18" charset="0"/>
              </a:rPr>
              <a:t> AI is a specialized platform that optimizes healthcare operations using AI to reduce administrative workload and enhance patient care quality.</a:t>
            </a:r>
          </a:p>
          <a:p>
            <a:r>
              <a:rPr lang="en-US" sz="2000" dirty="0">
                <a:latin typeface="Times New Roman" panose="02020603050405020304" pitchFamily="18" charset="0"/>
                <a:cs typeface="Times New Roman" panose="02020603050405020304" pitchFamily="18" charset="0"/>
              </a:rPr>
              <a:t>It offers tools like a Symptom Checker for initial patient insights and Patient Insights for summarized data to assist healthcare providers.</a:t>
            </a:r>
          </a:p>
          <a:p>
            <a:r>
              <a:rPr lang="en-US" sz="2000" dirty="0">
                <a:latin typeface="Times New Roman" panose="02020603050405020304" pitchFamily="18" charset="0"/>
                <a:cs typeface="Times New Roman" panose="02020603050405020304" pitchFamily="18" charset="0"/>
              </a:rPr>
              <a:t>The platform aims to bridge gaps in healthcare services, improve decision-making, and create an efficient experience for providers and patients.</a:t>
            </a:r>
          </a:p>
          <a:p>
            <a:pPr marL="0" indent="0">
              <a:buNone/>
            </a:pPr>
            <a:endParaRPr lang="en-US" sz="2000" b="0" i="0" dirty="0">
              <a:solidFill>
                <a:srgbClr val="333333"/>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E1A3D91-001E-E2A7-6C94-08070493FF5F}"/>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27969218-D130-DD17-C4C2-697A28BD93AB}"/>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1404CBE0-0CF8-2699-D714-BBA6DEFAD67B}"/>
              </a:ext>
            </a:extLst>
          </p:cNvPr>
          <p:cNvSpPr>
            <a:spLocks noGrp="1"/>
          </p:cNvSpPr>
          <p:nvPr>
            <p:ph type="title"/>
          </p:nvPr>
        </p:nvSpPr>
        <p:spPr>
          <a:xfrm>
            <a:off x="675835" y="633825"/>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Introduction</a:t>
            </a:r>
          </a:p>
        </p:txBody>
      </p:sp>
      <p:sp>
        <p:nvSpPr>
          <p:cNvPr id="4" name="Slide Number Placeholder 3">
            <a:extLst>
              <a:ext uri="{FF2B5EF4-FFF2-40B4-BE49-F238E27FC236}">
                <a16:creationId xmlns:a16="http://schemas.microsoft.com/office/drawing/2014/main" id="{35931503-6425-5FC9-6988-D6E2917C54E5}"/>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3</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16CA2DF-1E25-6252-FA35-1F6B33658A25}"/>
              </a:ext>
            </a:extLst>
          </p:cNvPr>
          <p:cNvSpPr txBox="1"/>
          <p:nvPr/>
        </p:nvSpPr>
        <p:spPr>
          <a:xfrm>
            <a:off x="2730674" y="7766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516554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E5DFA-FB19-1789-6BBB-2CC4AD94A15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A87D3C5-1C39-1F86-DBE9-355BEA0847EA}"/>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3B91BE18-0844-1D1B-E494-F90E3C7D1A1A}"/>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17E2BABE-1D2F-2E9B-8C62-0FBCDAFAB969}"/>
              </a:ext>
            </a:extLst>
          </p:cNvPr>
          <p:cNvSpPr>
            <a:spLocks noGrp="1"/>
          </p:cNvSpPr>
          <p:nvPr>
            <p:ph type="title"/>
          </p:nvPr>
        </p:nvSpPr>
        <p:spPr>
          <a:xfrm>
            <a:off x="801789" y="365125"/>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Challenges faced by health providers</a:t>
            </a:r>
          </a:p>
        </p:txBody>
      </p:sp>
      <p:sp>
        <p:nvSpPr>
          <p:cNvPr id="4" name="Slide Number Placeholder 3">
            <a:extLst>
              <a:ext uri="{FF2B5EF4-FFF2-40B4-BE49-F238E27FC236}">
                <a16:creationId xmlns:a16="http://schemas.microsoft.com/office/drawing/2014/main" id="{6E15A8C0-5F35-81E6-F53F-6DCEEFD4C884}"/>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4</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CF07688-0D06-B3E7-9FB9-9C13AE5D2811}"/>
              </a:ext>
            </a:extLst>
          </p:cNvPr>
          <p:cNvSpPr txBox="1"/>
          <p:nvPr/>
        </p:nvSpPr>
        <p:spPr>
          <a:xfrm>
            <a:off x="2730674" y="776614"/>
            <a:ext cx="184731" cy="369332"/>
          </a:xfrm>
          <a:prstGeom prst="rect">
            <a:avLst/>
          </a:prstGeom>
          <a:noFill/>
        </p:spPr>
        <p:txBody>
          <a:bodyPr wrap="none" rtlCol="0">
            <a:spAutoFit/>
          </a:bodyPr>
          <a:lstStyle/>
          <a:p>
            <a:endParaRPr lang="en-US" dirty="0"/>
          </a:p>
        </p:txBody>
      </p:sp>
      <p:pic>
        <p:nvPicPr>
          <p:cNvPr id="1026" name="Picture 2">
            <a:extLst>
              <a:ext uri="{FF2B5EF4-FFF2-40B4-BE49-F238E27FC236}">
                <a16:creationId xmlns:a16="http://schemas.microsoft.com/office/drawing/2014/main" id="{AD330033-2101-BA5C-67AB-5C6BBB9EBED5}"/>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8378638" y="1433383"/>
            <a:ext cx="3581400" cy="468625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D997E85-2FF5-6B1B-72D9-0FFBC16E6A96}"/>
              </a:ext>
            </a:extLst>
          </p:cNvPr>
          <p:cNvSpPr txBox="1"/>
          <p:nvPr/>
        </p:nvSpPr>
        <p:spPr>
          <a:xfrm>
            <a:off x="517584" y="1433383"/>
            <a:ext cx="7808811" cy="4924425"/>
          </a:xfrm>
          <a:prstGeom prst="rect">
            <a:avLst/>
          </a:prstGeom>
          <a:noFill/>
        </p:spPr>
        <p:txBody>
          <a:bodyPr wrap="square" rtlCol="0">
            <a:spAutoFit/>
          </a:bodyPr>
          <a:lstStyle/>
          <a:p>
            <a:pPr rtl="0">
              <a:spcBef>
                <a:spcPts val="0"/>
              </a:spcBef>
              <a:spcAft>
                <a:spcPts val="0"/>
              </a:spcAft>
            </a:pPr>
            <a:r>
              <a:rPr lang="en-US" sz="2000" b="1" i="0" u="none" strike="noStrike" dirty="0">
                <a:solidFill>
                  <a:srgbClr val="000000"/>
                </a:solidFill>
                <a:effectLst/>
                <a:latin typeface="Times New Roman" panose="02020603050405020304" pitchFamily="18" charset="0"/>
                <a:cs typeface="Times New Roman" panose="02020603050405020304" pitchFamily="18" charset="0"/>
              </a:rPr>
              <a:t>Extensive Time on Patient Histories:</a:t>
            </a:r>
          </a:p>
          <a:p>
            <a:pPr marL="342900" indent="-342900" rtl="0">
              <a:spcBef>
                <a:spcPts val="0"/>
              </a:spcBef>
              <a:spcAft>
                <a:spcPts val="0"/>
              </a:spcAft>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Administrative duties like reviewing and maintaining patient histories take up a large amount of a healthcare provider's workday, especially for physicians. Complicated documentation systems and regulatory obligations add to this strain.</a:t>
            </a:r>
          </a:p>
          <a:p>
            <a:pPr rtl="0">
              <a:spcBef>
                <a:spcPts val="0"/>
              </a:spcBef>
              <a:spcAft>
                <a:spcPts val="0"/>
              </a:spcAft>
            </a:pPr>
            <a:r>
              <a:rPr lang="en-US" sz="2000" b="1" i="0" u="none" strike="noStrike" dirty="0">
                <a:solidFill>
                  <a:srgbClr val="000000"/>
                </a:solidFill>
                <a:effectLst/>
                <a:latin typeface="-webkit-standard"/>
              </a:rPr>
              <a:t>Decreased Attention to Patient Care: </a:t>
            </a:r>
          </a:p>
          <a:p>
            <a:pPr marL="342900" indent="-342900" rtl="0">
              <a:spcBef>
                <a:spcPts val="0"/>
              </a:spcBef>
              <a:spcAft>
                <a:spcPts val="0"/>
              </a:spcAft>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As physicians spend more time on administrative tasks, they are less available to engage directly with patients, which results in less personalized and timely care delivery.</a:t>
            </a:r>
          </a:p>
          <a:p>
            <a:pPr rtl="0">
              <a:spcBef>
                <a:spcPts val="0"/>
              </a:spcBef>
              <a:spcAft>
                <a:spcPts val="0"/>
              </a:spcAft>
            </a:pPr>
            <a:r>
              <a:rPr lang="en-IN" sz="2000" b="1" i="0" u="none" strike="noStrike" dirty="0">
                <a:solidFill>
                  <a:srgbClr val="0E0E0E"/>
                </a:solidFill>
                <a:effectLst/>
                <a:latin typeface="Times New Roman" panose="02020603050405020304" pitchFamily="18" charset="0"/>
                <a:cs typeface="Times New Roman" panose="02020603050405020304" pitchFamily="18" charset="0"/>
              </a:rPr>
              <a:t>Impact:</a:t>
            </a:r>
            <a:br>
              <a:rPr lang="en-US" sz="1600" dirty="0"/>
            </a:br>
            <a:r>
              <a:rPr lang="en-US" sz="2000" b="0" i="0" u="none" strike="noStrike" dirty="0">
                <a:solidFill>
                  <a:srgbClr val="000000"/>
                </a:solidFill>
                <a:effectLst/>
                <a:latin typeface="Times New Roman" panose="02020603050405020304" pitchFamily="18" charset="0"/>
                <a:cs typeface="Times New Roman" panose="02020603050405020304" pitchFamily="18" charset="0"/>
              </a:rPr>
              <a:t>Healthcare professionals' mental and physical weariness is often caused by the repetitive and time-consuming nature of administrative labor. Burnout can lead to a decrease in overall care quality, more turnover, and decreased job satisfaction.</a:t>
            </a:r>
            <a:br>
              <a:rPr lang="en-US" sz="2000" dirty="0">
                <a:latin typeface="Times New Roman" panose="02020603050405020304" pitchFamily="18" charset="0"/>
                <a:cs typeface="Times New Roman" panose="02020603050405020304" pitchFamily="18" charset="0"/>
              </a:rPr>
            </a:br>
            <a:br>
              <a:rPr lang="en-IN" sz="1700" dirty="0">
                <a:latin typeface="Times New Roman" panose="02020603050405020304" pitchFamily="18" charset="0"/>
                <a:cs typeface="Times New Roman" panose="02020603050405020304" pitchFamily="18" charset="0"/>
              </a:rPr>
            </a:b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2192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2A680-6005-570B-7B89-D71D9E620BF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C5CB2C2-1DFD-C830-6C7E-60EABC7D2B3B}"/>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E61B778D-06A1-7A45-F1CE-BF4DE40D66C2}"/>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19B9B6E3-2361-686C-20CA-A743BB18B1F6}"/>
              </a:ext>
            </a:extLst>
          </p:cNvPr>
          <p:cNvSpPr>
            <a:spLocks noGrp="1"/>
          </p:cNvSpPr>
          <p:nvPr>
            <p:ph type="title"/>
          </p:nvPr>
        </p:nvSpPr>
        <p:spPr>
          <a:xfrm>
            <a:off x="801789" y="365125"/>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Challenges faced by health providers</a:t>
            </a:r>
            <a:endParaRPr lang="en-US" b="1" dirty="0">
              <a:solidFill>
                <a:schemeClr val="bg1"/>
              </a:solidFill>
              <a:highlight>
                <a:srgbClr val="000000"/>
              </a:highlight>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BB839F1-5F31-1179-D332-08ADA9D0F646}"/>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5</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F27E61F-FCA5-CCD2-8D8A-E1D07E2E2C1A}"/>
              </a:ext>
            </a:extLst>
          </p:cNvPr>
          <p:cNvSpPr txBox="1"/>
          <p:nvPr/>
        </p:nvSpPr>
        <p:spPr>
          <a:xfrm>
            <a:off x="2730674" y="776614"/>
            <a:ext cx="184731" cy="369332"/>
          </a:xfrm>
          <a:prstGeom prst="rect">
            <a:avLst/>
          </a:prstGeom>
          <a:noFill/>
        </p:spPr>
        <p:txBody>
          <a:bodyPr wrap="none" rtlCol="0">
            <a:spAutoFit/>
          </a:bodyPr>
          <a:lstStyle/>
          <a:p>
            <a:endParaRPr lang="en-US" dirty="0"/>
          </a:p>
        </p:txBody>
      </p:sp>
      <p:pic>
        <p:nvPicPr>
          <p:cNvPr id="2050" name="Picture 2">
            <a:extLst>
              <a:ext uri="{FF2B5EF4-FFF2-40B4-BE49-F238E27FC236}">
                <a16:creationId xmlns:a16="http://schemas.microsoft.com/office/drawing/2014/main" id="{46AF3B26-05C5-BEC6-6CE9-66A0FC85A323}"/>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8610600" y="1145946"/>
            <a:ext cx="3350672" cy="44005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EC21475-33CF-3064-E7EE-C6999AABA538}"/>
              </a:ext>
            </a:extLst>
          </p:cNvPr>
          <p:cNvSpPr txBox="1"/>
          <p:nvPr/>
        </p:nvSpPr>
        <p:spPr>
          <a:xfrm>
            <a:off x="393666" y="1259996"/>
            <a:ext cx="7971858" cy="4924425"/>
          </a:xfrm>
          <a:prstGeom prst="rect">
            <a:avLst/>
          </a:prstGeom>
          <a:noFill/>
        </p:spPr>
        <p:txBody>
          <a:bodyPr wrap="square" rtlCol="0">
            <a:spAutoFit/>
          </a:bodyPr>
          <a:lstStyle/>
          <a:p>
            <a:pPr indent="-127000" rtl="0">
              <a:spcBef>
                <a:spcPts val="0"/>
              </a:spcBef>
              <a:spcAft>
                <a:spcPts val="0"/>
              </a:spcAft>
            </a:pPr>
            <a:r>
              <a:rPr lang="en-IN" sz="2000" b="1" i="0" u="none" strike="noStrike" dirty="0">
                <a:solidFill>
                  <a:srgbClr val="0E0E0E"/>
                </a:solidFill>
                <a:effectLst/>
                <a:latin typeface="Times New Roman" panose="02020603050405020304" pitchFamily="18" charset="0"/>
                <a:cs typeface="Times New Roman" panose="02020603050405020304" pitchFamily="18" charset="0"/>
              </a:rPr>
              <a:t>Long Wait Times for Appointments:</a:t>
            </a:r>
            <a:endParaRPr lang="en-IN" sz="2000" b="0" dirty="0">
              <a:effectLst/>
              <a:latin typeface="Times New Roman" panose="02020603050405020304" pitchFamily="18" charset="0"/>
              <a:cs typeface="Times New Roman" panose="02020603050405020304" pitchFamily="18" charset="0"/>
            </a:endParaRPr>
          </a:p>
          <a:p>
            <a:pPr marL="25400" indent="-342900" rtl="0">
              <a:spcBef>
                <a:spcPts val="0"/>
              </a:spcBef>
              <a:spcAft>
                <a:spcPts val="0"/>
              </a:spcAft>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The typical wait time for patients to visit a primary care physician is 26 days, while wait times for specialist care are frequently greater.</a:t>
            </a:r>
          </a:p>
          <a:p>
            <a:pPr marL="25400" indent="-342900" rtl="0">
              <a:spcBef>
                <a:spcPts val="0"/>
              </a:spcBef>
              <a:spcAft>
                <a:spcPts val="0"/>
              </a:spcAft>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Such long wait times make it more difficult for people to receive healthcare services on time, especially if they have acute or changing symptoms.</a:t>
            </a:r>
            <a:br>
              <a:rPr lang="en-US" sz="2000" dirty="0"/>
            </a:br>
            <a:endParaRPr lang="en-US" sz="2000" dirty="0"/>
          </a:p>
          <a:p>
            <a:pPr rtl="0">
              <a:spcBef>
                <a:spcPts val="0"/>
              </a:spcBef>
              <a:spcAft>
                <a:spcPts val="0"/>
              </a:spcAft>
            </a:pPr>
            <a:r>
              <a:rPr lang="en-IN" sz="2000" b="1" i="0" u="none" strike="noStrike" dirty="0">
                <a:solidFill>
                  <a:srgbClr val="0E0E0E"/>
                </a:solidFill>
                <a:effectLst/>
                <a:latin typeface="Times New Roman" panose="02020603050405020304" pitchFamily="18" charset="0"/>
                <a:cs typeface="Times New Roman" panose="02020603050405020304" pitchFamily="18" charset="0"/>
              </a:rPr>
              <a:t>Resulting Issues:</a:t>
            </a:r>
            <a:endParaRPr lang="en-IN" sz="2000" dirty="0">
              <a:latin typeface="Times New Roman" panose="02020603050405020304" pitchFamily="18" charset="0"/>
              <a:cs typeface="Times New Roman" panose="02020603050405020304" pitchFamily="18" charset="0"/>
            </a:endParaRPr>
          </a:p>
          <a:p>
            <a:pPr marL="25400" indent="-342900" rtl="0">
              <a:spcBef>
                <a:spcPts val="0"/>
              </a:spcBef>
              <a:spcAft>
                <a:spcPts val="0"/>
              </a:spcAft>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During the waiting period, patients might ignore or disregard their symptoms, which could result in consequences and worsening of illnesses that should have been handled sooner</a:t>
            </a:r>
            <a:r>
              <a:rPr lang="en-US" sz="2000" b="0" i="0" u="none" strike="noStrike" dirty="0">
                <a:solidFill>
                  <a:srgbClr val="000000"/>
                </a:solidFill>
                <a:effectLst/>
                <a:latin typeface="-webkit-standard"/>
              </a:rPr>
              <a:t>.</a:t>
            </a:r>
            <a:endParaRPr lang="en-US" sz="2000" dirty="0">
              <a:latin typeface="Times New Roman" panose="02020603050405020304" pitchFamily="18" charset="0"/>
              <a:cs typeface="Times New Roman" panose="02020603050405020304" pitchFamily="18" charset="0"/>
            </a:endParaRPr>
          </a:p>
          <a:p>
            <a:pPr marL="25400" indent="-342900" rtl="0">
              <a:spcBef>
                <a:spcPts val="0"/>
              </a:spcBef>
              <a:spcAft>
                <a:spcPts val="0"/>
              </a:spcAft>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The effectiveness of therapies is reduced and overall health outcomes are impacted when illnesses, particularly chronic or serious ones, are discovered too late.</a:t>
            </a:r>
            <a:br>
              <a:rPr lang="en-US" sz="1600" dirty="0"/>
            </a:br>
            <a:br>
              <a:rPr lang="en-IN" sz="1700" b="0" dirty="0">
                <a:effectLst/>
                <a:latin typeface="Times New Roman" panose="02020603050405020304" pitchFamily="18" charset="0"/>
                <a:cs typeface="Times New Roman" panose="02020603050405020304" pitchFamily="18" charset="0"/>
              </a:rPr>
            </a:b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6094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F866B-7698-3BBE-603E-0660BB1A9B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E54A5F-FE37-3183-9E37-8A6D3E83769A}"/>
              </a:ext>
            </a:extLst>
          </p:cNvPr>
          <p:cNvSpPr>
            <a:spLocks noGrp="1"/>
          </p:cNvSpPr>
          <p:nvPr>
            <p:ph idx="1"/>
          </p:nvPr>
        </p:nvSpPr>
        <p:spPr>
          <a:xfrm>
            <a:off x="573189" y="1227952"/>
            <a:ext cx="10906565" cy="4510588"/>
          </a:xfrm>
        </p:spPr>
        <p:txBody>
          <a:bodyPr>
            <a:normAutofit/>
          </a:bodyPr>
          <a:lstStyle/>
          <a:p>
            <a:pPr>
              <a:lnSpc>
                <a:spcPct val="115000"/>
              </a:lnSpc>
              <a:spcAft>
                <a:spcPts val="800"/>
              </a:spcAft>
            </a:pP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More recently, with the widespread adoption of electronic health record (EHR) systems, doctors are now spending approximately 6 hours of their 11-hour workdays using EHR systems and about 1.5 hours on documentation alone.</a:t>
            </a:r>
            <a:r>
              <a:rPr lang="en-US" sz="20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With the growing shortage of primary care physicians and higher burnout rates (</a:t>
            </a:r>
            <a:r>
              <a:rPr lang="en-US" sz="2000" kern="100" dirty="0" err="1">
                <a:effectLst/>
                <a:latin typeface="Times New Roman" panose="02020603050405020304" pitchFamily="18" charset="0"/>
                <a:ea typeface="Aptos" panose="020B0004020202020204" pitchFamily="34" charset="0"/>
                <a:cs typeface="Times New Roman" panose="02020603050405020304" pitchFamily="18" charset="0"/>
              </a:rPr>
              <a:t>Shanafelt</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 et al., 2015) ,an automatic speech recognition (ASR) technology that could accelerate transcription of clinical visits seems imminently useful.</a:t>
            </a:r>
            <a:endParaRPr lang="en-IN" sz="2000" kern="100" dirty="0">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pP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 With the model developments, Connectionist Temporal Classification (CTC) achieved word error          rate(WER) of 20.1% and the LAS model</a:t>
            </a:r>
            <a:r>
              <a:rPr lang="en-US" sz="20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(Chan et al., 2016) achieved word error rate(WER) of 18.3%. </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indent="0">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Reference: </a:t>
            </a:r>
            <a:r>
              <a:rPr lang="en-US" sz="1800" dirty="0" err="1">
                <a:effectLst/>
                <a:latin typeface="Aptos" panose="020B0004020202020204" pitchFamily="34" charset="0"/>
                <a:ea typeface="Aptos" panose="020B0004020202020204" pitchFamily="34" charset="0"/>
                <a:cs typeface="Times New Roman" panose="02020603050405020304" pitchFamily="18" charset="0"/>
              </a:rPr>
              <a:t>Shanafelt</a:t>
            </a:r>
            <a:r>
              <a:rPr lang="en-US" sz="1800" dirty="0">
                <a:effectLst/>
                <a:latin typeface="Aptos" panose="020B0004020202020204" pitchFamily="34" charset="0"/>
                <a:ea typeface="Aptos" panose="020B0004020202020204" pitchFamily="34" charset="0"/>
                <a:cs typeface="Times New Roman" panose="02020603050405020304" pitchFamily="18" charset="0"/>
              </a:rPr>
              <a:t>, T. D., Hasan, O., </a:t>
            </a:r>
            <a:r>
              <a:rPr lang="en-US" sz="1800" dirty="0" err="1">
                <a:effectLst/>
                <a:latin typeface="Aptos" panose="020B0004020202020204" pitchFamily="34" charset="0"/>
                <a:ea typeface="Aptos" panose="020B0004020202020204" pitchFamily="34" charset="0"/>
                <a:cs typeface="Times New Roman" panose="02020603050405020304" pitchFamily="18" charset="0"/>
              </a:rPr>
              <a:t>Dyrbye</a:t>
            </a:r>
            <a:r>
              <a:rPr lang="en-US" sz="1800" dirty="0">
                <a:effectLst/>
                <a:latin typeface="Aptos" panose="020B0004020202020204" pitchFamily="34" charset="0"/>
                <a:ea typeface="Aptos" panose="020B0004020202020204" pitchFamily="34" charset="0"/>
                <a:cs typeface="Times New Roman" panose="02020603050405020304" pitchFamily="18" charset="0"/>
              </a:rPr>
              <a:t>, L. N., </a:t>
            </a:r>
            <a:r>
              <a:rPr lang="en-US" sz="1800" dirty="0" err="1">
                <a:effectLst/>
                <a:latin typeface="Aptos" panose="020B0004020202020204" pitchFamily="34" charset="0"/>
                <a:ea typeface="Aptos" panose="020B0004020202020204" pitchFamily="34" charset="0"/>
                <a:cs typeface="Times New Roman" panose="02020603050405020304" pitchFamily="18" charset="0"/>
              </a:rPr>
              <a:t>Sinsky</a:t>
            </a:r>
            <a:r>
              <a:rPr lang="en-US" sz="1800" dirty="0">
                <a:effectLst/>
                <a:latin typeface="Aptos" panose="020B0004020202020204" pitchFamily="34" charset="0"/>
                <a:ea typeface="Aptos" panose="020B0004020202020204" pitchFamily="34" charset="0"/>
                <a:cs typeface="Times New Roman" panose="02020603050405020304" pitchFamily="18" charset="0"/>
              </a:rPr>
              <a:t>, C., </a:t>
            </a:r>
            <a:r>
              <a:rPr lang="en-US" sz="1800" dirty="0" err="1">
                <a:effectLst/>
                <a:latin typeface="Aptos" panose="020B0004020202020204" pitchFamily="34" charset="0"/>
                <a:ea typeface="Aptos" panose="020B0004020202020204" pitchFamily="34" charset="0"/>
                <a:cs typeface="Times New Roman" panose="02020603050405020304" pitchFamily="18" charset="0"/>
              </a:rPr>
              <a:t>Satele</a:t>
            </a:r>
            <a:r>
              <a:rPr lang="en-US" sz="1800" dirty="0">
                <a:effectLst/>
                <a:latin typeface="Aptos" panose="020B0004020202020204" pitchFamily="34" charset="0"/>
                <a:ea typeface="Aptos" panose="020B0004020202020204" pitchFamily="34" charset="0"/>
                <a:cs typeface="Times New Roman" panose="02020603050405020304" pitchFamily="18" charset="0"/>
              </a:rPr>
              <a:t>, D., Sloan, J., &amp; West, C. P. (2015). Changes in burnout and satisfaction with Work-Life balance in physicians and the general US working population between 2011 and 2014. </a:t>
            </a:r>
            <a:r>
              <a:rPr lang="en-US" sz="1800" i="1" dirty="0">
                <a:effectLst/>
                <a:latin typeface="Aptos" panose="020B0004020202020204" pitchFamily="34" charset="0"/>
                <a:ea typeface="Aptos" panose="020B0004020202020204" pitchFamily="34" charset="0"/>
                <a:cs typeface="Times New Roman" panose="02020603050405020304" pitchFamily="18" charset="0"/>
              </a:rPr>
              <a:t>Mayo Clinic Proceedings</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r>
              <a:rPr lang="en-US" sz="1800" i="1" dirty="0">
                <a:effectLst/>
                <a:latin typeface="Aptos" panose="020B0004020202020204" pitchFamily="34" charset="0"/>
                <a:ea typeface="Aptos" panose="020B0004020202020204" pitchFamily="34" charset="0"/>
                <a:cs typeface="Times New Roman" panose="02020603050405020304" pitchFamily="18" charset="0"/>
              </a:rPr>
              <a:t>90</a:t>
            </a:r>
            <a:r>
              <a:rPr lang="en-US" sz="1800" dirty="0">
                <a:effectLst/>
                <a:latin typeface="Aptos" panose="020B0004020202020204" pitchFamily="34" charset="0"/>
                <a:ea typeface="Aptos" panose="020B0004020202020204" pitchFamily="34" charset="0"/>
                <a:cs typeface="Times New Roman" panose="02020603050405020304" pitchFamily="18" charset="0"/>
              </a:rPr>
              <a:t>(12), 1600–1613. </a:t>
            </a:r>
            <a:r>
              <a:rPr lang="en-US" sz="18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https://doi.org/10.1016/j.mayocp.2015.08.023</a:t>
            </a:r>
            <a:r>
              <a:rPr lang="en-US" sz="1200" dirty="0">
                <a:effectLst/>
              </a:rPr>
              <a:t> </a:t>
            </a: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sz="1700" b="0" i="0" dirty="0">
              <a:solidFill>
                <a:srgbClr val="333333"/>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F7F2022-B4C7-E451-7111-AB961139B1C6}"/>
              </a:ext>
            </a:extLst>
          </p:cNvPr>
          <p:cNvPicPr>
            <a:picLocks noChangeAspect="1"/>
          </p:cNvPicPr>
          <p:nvPr/>
        </p:nvPicPr>
        <p:blipFill>
          <a:blip r:embed="rId3"/>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54177305-54E2-63DA-842B-CF9D3A7F9435}"/>
              </a:ext>
            </a:extLst>
          </p:cNvPr>
          <p:cNvPicPr>
            <a:picLocks noChangeAspect="1"/>
          </p:cNvPicPr>
          <p:nvPr/>
        </p:nvPicPr>
        <p:blipFill>
          <a:blip r:embed="rId4"/>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E24AB730-DD1A-E776-3664-2657F125B356}"/>
              </a:ext>
            </a:extLst>
          </p:cNvPr>
          <p:cNvSpPr>
            <a:spLocks noGrp="1"/>
          </p:cNvSpPr>
          <p:nvPr>
            <p:ph type="title"/>
          </p:nvPr>
        </p:nvSpPr>
        <p:spPr>
          <a:xfrm>
            <a:off x="801789" y="365125"/>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Related Literature Review</a:t>
            </a:r>
          </a:p>
        </p:txBody>
      </p:sp>
      <p:sp>
        <p:nvSpPr>
          <p:cNvPr id="4" name="Slide Number Placeholder 3">
            <a:extLst>
              <a:ext uri="{FF2B5EF4-FFF2-40B4-BE49-F238E27FC236}">
                <a16:creationId xmlns:a16="http://schemas.microsoft.com/office/drawing/2014/main" id="{EADB170A-E8D8-D2E3-1DFC-B2B73040C4D2}"/>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6</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E70A41B-A933-0035-B3B4-FC627A12B442}"/>
              </a:ext>
            </a:extLst>
          </p:cNvPr>
          <p:cNvSpPr txBox="1"/>
          <p:nvPr/>
        </p:nvSpPr>
        <p:spPr>
          <a:xfrm>
            <a:off x="2730674" y="7766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384533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B3CD0-7291-411C-5E59-DCBE0CC4D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947FB9-29E9-8BAD-69C7-9EA5B1B8BAE5}"/>
              </a:ext>
            </a:extLst>
          </p:cNvPr>
          <p:cNvSpPr>
            <a:spLocks noGrp="1"/>
          </p:cNvSpPr>
          <p:nvPr>
            <p:ph idx="1"/>
          </p:nvPr>
        </p:nvSpPr>
        <p:spPr>
          <a:xfrm>
            <a:off x="573189" y="1227952"/>
            <a:ext cx="10677965" cy="4402095"/>
          </a:xfrm>
        </p:spPr>
        <p:txBody>
          <a:bodyPr>
            <a:normAutofit fontScale="92500" lnSpcReduction="10000"/>
          </a:bodyPr>
          <a:lstStyle/>
          <a:p>
            <a:pPr>
              <a:lnSpc>
                <a:spcPct val="115000"/>
              </a:lnSpc>
              <a:spcAft>
                <a:spcPts val="800"/>
              </a:spcAft>
            </a:pP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While CTC and LAS models have been effective in specific speech recognition tasks, they are limited by their sensitivity to data quality and resource-intensive nature. Whisper AI offers a more robust, scalable, and efficient solution for medical transcription, particularly in real-world environments where background noise and diverse speech patterns are common. Its end-to-end design and large-scale training make it a superior choice for automatic transcription of doctor-patient conversations.</a:t>
            </a:r>
          </a:p>
          <a:p>
            <a:pPr>
              <a:lnSpc>
                <a:spcPct val="115000"/>
              </a:lnSpc>
              <a:spcAft>
                <a:spcPts val="800"/>
              </a:spcAft>
            </a:pP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The introduction of advanced speech-to-text models, like Whisper AI, offers a possible way to streamline the transcribing procedure. These models greatly cut down on the time and effort needed for transcription by automatically converting audio recordings into text with high accuracy.</a:t>
            </a:r>
            <a:r>
              <a:rPr lang="en-US"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Moreover, these models can translate or even transcribe speech in multiple languages and are frequently not limited to just one. Whisper AI, for instance, speaks hundreds of languages (Radford et al., n.d.). Most importantly, the goal of using AI-driven transcription is to improve the process's quality and efficiency rather than completely replace human transcribers (</a:t>
            </a:r>
            <a:r>
              <a:rPr lang="en-US" sz="2000" kern="100" dirty="0" err="1">
                <a:effectLst/>
                <a:latin typeface="Times New Roman" panose="02020603050405020304" pitchFamily="18" charset="0"/>
                <a:ea typeface="Aptos" panose="020B0004020202020204" pitchFamily="34" charset="0"/>
                <a:cs typeface="Times New Roman" panose="02020603050405020304" pitchFamily="18" charset="0"/>
              </a:rPr>
              <a:t>Bokhove</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 &amp; Downey, 2018).</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sz="1700" b="0" i="0" dirty="0">
              <a:solidFill>
                <a:srgbClr val="333333"/>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3C6BBC5-BEF5-4C4C-E2C1-F1A60FE01FA9}"/>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F1A98A77-449E-EC5E-87FB-310BF25026BB}"/>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8D6168CE-3CC1-91C3-5EB1-B04A15FC9EB6}"/>
              </a:ext>
            </a:extLst>
          </p:cNvPr>
          <p:cNvSpPr>
            <a:spLocks noGrp="1"/>
          </p:cNvSpPr>
          <p:nvPr>
            <p:ph type="title"/>
          </p:nvPr>
        </p:nvSpPr>
        <p:spPr>
          <a:xfrm>
            <a:off x="801789" y="365125"/>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Related Literature Review continued</a:t>
            </a:r>
          </a:p>
        </p:txBody>
      </p:sp>
      <p:sp>
        <p:nvSpPr>
          <p:cNvPr id="4" name="Slide Number Placeholder 3">
            <a:extLst>
              <a:ext uri="{FF2B5EF4-FFF2-40B4-BE49-F238E27FC236}">
                <a16:creationId xmlns:a16="http://schemas.microsoft.com/office/drawing/2014/main" id="{6C956B76-0E60-DFAB-6947-50818A9DFB36}"/>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7</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B4B5264-ED5F-5954-524A-40DE05A7B9DE}"/>
              </a:ext>
            </a:extLst>
          </p:cNvPr>
          <p:cNvSpPr txBox="1"/>
          <p:nvPr/>
        </p:nvSpPr>
        <p:spPr>
          <a:xfrm>
            <a:off x="2730674" y="7766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019287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FA864-8637-0078-35E0-1444DE28B3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EB7B3D-B11C-6C9A-3093-00E7D4C7B3C4}"/>
              </a:ext>
            </a:extLst>
          </p:cNvPr>
          <p:cNvSpPr>
            <a:spLocks noGrp="1"/>
          </p:cNvSpPr>
          <p:nvPr>
            <p:ph idx="1"/>
          </p:nvPr>
        </p:nvSpPr>
        <p:spPr>
          <a:xfrm>
            <a:off x="573189" y="1227952"/>
            <a:ext cx="10677965" cy="4402095"/>
          </a:xfrm>
        </p:spPr>
        <p:txBody>
          <a:bodyPr>
            <a:normAutofit/>
          </a:bodyPr>
          <a:lstStyle/>
          <a:p>
            <a:pPr>
              <a:lnSpc>
                <a:spcPct val="115000"/>
              </a:lnSpc>
              <a:spcAft>
                <a:spcPts val="800"/>
              </a:spcAft>
            </a:pP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Online health information access and remote consultation platforms have become more popular because of the change to a patient-centered healthcare model, particularly with the expansion of "Internet plus Healthcare." By enabling doctors to diagnose and counsel patients remotely, these platforms increase healthcare efficiency by cutting down on time spent on unnecessary chores while preserving individualized treatment (Zhou et al., 2024).</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pP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By giving rapid access to important information, improving patient care, and promoting knowledge exchange among medical experts, summarizing conversations from these remote platforms helps both patients and physicians. Using extractive or abstractive algorithms, medical dialogue summarizing facilitates the condensing of information from sources such as consultations and electronic health records into brief summaries (Chen &amp; Lee, 2023).</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sz="1700" b="0" i="0" dirty="0">
              <a:solidFill>
                <a:srgbClr val="333333"/>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9816137-1D18-3678-637B-0FDCCA0937B0}"/>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CCC66464-A4B2-80EF-742D-BC0255B89C5B}"/>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BB71C2A3-4876-B8DA-438B-447FF31D17AE}"/>
              </a:ext>
            </a:extLst>
          </p:cNvPr>
          <p:cNvSpPr>
            <a:spLocks noGrp="1"/>
          </p:cNvSpPr>
          <p:nvPr>
            <p:ph type="title"/>
          </p:nvPr>
        </p:nvSpPr>
        <p:spPr>
          <a:xfrm>
            <a:off x="801789" y="365125"/>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Related Literature Review</a:t>
            </a:r>
          </a:p>
        </p:txBody>
      </p:sp>
      <p:sp>
        <p:nvSpPr>
          <p:cNvPr id="4" name="Slide Number Placeholder 3">
            <a:extLst>
              <a:ext uri="{FF2B5EF4-FFF2-40B4-BE49-F238E27FC236}">
                <a16:creationId xmlns:a16="http://schemas.microsoft.com/office/drawing/2014/main" id="{36274CA7-CEA0-3C13-55D2-D61E3FE804F4}"/>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8</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99FC958-E345-F4DB-B5B1-D2EFACEADE3B}"/>
              </a:ext>
            </a:extLst>
          </p:cNvPr>
          <p:cNvSpPr txBox="1"/>
          <p:nvPr/>
        </p:nvSpPr>
        <p:spPr>
          <a:xfrm>
            <a:off x="2730674" y="7766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759127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13966-C3E5-20ED-1590-82D2E799D6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1EF6ED-9EBB-A473-0CBC-77512DE46DBD}"/>
              </a:ext>
            </a:extLst>
          </p:cNvPr>
          <p:cNvSpPr>
            <a:spLocks noGrp="1"/>
          </p:cNvSpPr>
          <p:nvPr>
            <p:ph idx="1"/>
          </p:nvPr>
        </p:nvSpPr>
        <p:spPr>
          <a:xfrm>
            <a:off x="573189" y="1227952"/>
            <a:ext cx="10677965" cy="4402095"/>
          </a:xfrm>
        </p:spPr>
        <p:txBody>
          <a:bodyPr>
            <a:normAutofit/>
          </a:bodyPr>
          <a:lstStyle/>
          <a:p>
            <a:endParaRPr lang="en-US" sz="17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sz="2000" dirty="0">
              <a:latin typeface="Times New Roman" panose="02020603050405020304" pitchFamily="18" charset="0"/>
              <a:ea typeface="Aptos" panose="020B0004020202020204" pitchFamily="34" charset="0"/>
              <a:cs typeface="Times New Roman" panose="02020603050405020304" pitchFamily="18" charset="0"/>
            </a:endParaRPr>
          </a:p>
          <a:p>
            <a:r>
              <a:rPr lang="en-US" sz="2000" dirty="0">
                <a:effectLst/>
                <a:latin typeface="Times New Roman" panose="02020603050405020304" pitchFamily="18" charset="0"/>
                <a:ea typeface="Aptos" panose="020B0004020202020204" pitchFamily="34" charset="0"/>
                <a:cs typeface="Times New Roman" panose="02020603050405020304" pitchFamily="18" charset="0"/>
              </a:rPr>
              <a:t>Since early applications of AI in healthcare began in the 1980s with tools like brain biopsy trajectory mapping, the use of AI in healthcare is not totally novel(Khan &amp; Anwar, 2019). Since then, artificial intelligence (AI) has quickly grown in the healthcare industry, and its applications today include hospital logistics, pharmaceuticals, and some medical procedures, among other things. </a:t>
            </a:r>
            <a:endParaRPr lang="en-US" sz="2000" dirty="0">
              <a:latin typeface="Times New Roman" panose="02020603050405020304" pitchFamily="18" charset="0"/>
              <a:ea typeface="Aptos" panose="020B0004020202020204" pitchFamily="34" charset="0"/>
              <a:cs typeface="Times New Roman" panose="02020603050405020304" pitchFamily="18" charset="0"/>
            </a:endParaRPr>
          </a:p>
          <a:p>
            <a:endParaRPr lang="en-US" sz="20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US" sz="2000" dirty="0">
                <a:effectLst/>
                <a:latin typeface="Times New Roman" panose="02020603050405020304" pitchFamily="18" charset="0"/>
                <a:ea typeface="Aptos" panose="020B0004020202020204" pitchFamily="34" charset="0"/>
                <a:cs typeface="Times New Roman" panose="02020603050405020304" pitchFamily="18" charset="0"/>
              </a:rPr>
              <a:t>RAG models retrieve external data in real-time and incorporate it into the content production process, in contrast to typical LLMs that only use pre-existing training data to generate content(</a:t>
            </a:r>
            <a:r>
              <a:rPr lang="en-US" sz="2000" dirty="0" err="1">
                <a:effectLst/>
                <a:latin typeface="Times New Roman" panose="02020603050405020304" pitchFamily="18" charset="0"/>
                <a:ea typeface="Aptos" panose="020B0004020202020204" pitchFamily="34" charset="0"/>
                <a:cs typeface="Times New Roman" panose="02020603050405020304" pitchFamily="18" charset="0"/>
              </a:rPr>
              <a:t>Toukmaji</a:t>
            </a:r>
            <a:r>
              <a:rPr lang="en-US" sz="2000" dirty="0">
                <a:effectLst/>
                <a:latin typeface="Times New Roman" panose="02020603050405020304" pitchFamily="18" charset="0"/>
                <a:ea typeface="Aptos" panose="020B0004020202020204" pitchFamily="34" charset="0"/>
                <a:cs typeface="Times New Roman" panose="02020603050405020304" pitchFamily="18" charset="0"/>
              </a:rPr>
              <a:t> &amp; Tee, 2024).</a:t>
            </a:r>
            <a:r>
              <a:rPr lang="en-IN" sz="2000" dirty="0">
                <a:effectLst/>
                <a:latin typeface="Times New Roman" panose="02020603050405020304" pitchFamily="18" charset="0"/>
                <a:cs typeface="Times New Roman" panose="02020603050405020304" pitchFamily="18" charset="0"/>
              </a:rPr>
              <a:t> </a:t>
            </a:r>
            <a:endParaRPr lang="en-US" sz="2000" b="0" i="0" dirty="0">
              <a:solidFill>
                <a:srgbClr val="333333"/>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119EA93-B584-3C2E-EA09-2D6D8F8565DB}"/>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7C3ED0E7-D544-40D1-F4B4-D4A81C913473}"/>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DDC7B2C7-E2BE-C6B1-FE9C-47354D8642A5}"/>
              </a:ext>
            </a:extLst>
          </p:cNvPr>
          <p:cNvSpPr>
            <a:spLocks noGrp="1"/>
          </p:cNvSpPr>
          <p:nvPr>
            <p:ph type="title"/>
          </p:nvPr>
        </p:nvSpPr>
        <p:spPr>
          <a:xfrm>
            <a:off x="801789" y="365125"/>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Related Literature Review</a:t>
            </a:r>
          </a:p>
        </p:txBody>
      </p:sp>
      <p:sp>
        <p:nvSpPr>
          <p:cNvPr id="4" name="Slide Number Placeholder 3">
            <a:extLst>
              <a:ext uri="{FF2B5EF4-FFF2-40B4-BE49-F238E27FC236}">
                <a16:creationId xmlns:a16="http://schemas.microsoft.com/office/drawing/2014/main" id="{471E5D3A-143B-7FEC-AED3-C122F29D426F}"/>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9</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0C813B4-206F-E6E0-644D-DF18C98526D4}"/>
              </a:ext>
            </a:extLst>
          </p:cNvPr>
          <p:cNvSpPr txBox="1"/>
          <p:nvPr/>
        </p:nvSpPr>
        <p:spPr>
          <a:xfrm>
            <a:off x="2730674" y="7766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93766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2F72D-8EB5-92F3-8F93-760A7E758C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EFB323-7CC7-B6FF-F2D3-A94824B378B6}"/>
              </a:ext>
            </a:extLst>
          </p:cNvPr>
          <p:cNvSpPr>
            <a:spLocks noGrp="1"/>
          </p:cNvSpPr>
          <p:nvPr>
            <p:ph idx="1"/>
          </p:nvPr>
        </p:nvSpPr>
        <p:spPr>
          <a:xfrm>
            <a:off x="573189" y="1227952"/>
            <a:ext cx="10677965" cy="4402095"/>
          </a:xfrm>
        </p:spPr>
        <p:txBody>
          <a:bodyPr>
            <a:normAutofit/>
          </a:bodyPr>
          <a:lstStyle/>
          <a:p>
            <a:pPr marL="0" indent="0" algn="l">
              <a:buNone/>
            </a:pPr>
            <a:r>
              <a:rPr lang="en-IN" sz="1200" b="0" dirty="0">
                <a:effectLst/>
              </a:rPr>
              <a:t>  </a:t>
            </a:r>
            <a:endParaRPr lang="en-US" sz="1700" b="0" i="0" dirty="0">
              <a:solidFill>
                <a:srgbClr val="333333"/>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05B5E6C6-27F7-5481-3537-77181C00833A}"/>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5ED598AB-83F5-9629-680C-20CB5DC590C1}"/>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20C6D27E-DE7C-1C2B-A03C-28CF0DC6490F}"/>
              </a:ext>
            </a:extLst>
          </p:cNvPr>
          <p:cNvSpPr>
            <a:spLocks noGrp="1"/>
          </p:cNvSpPr>
          <p:nvPr>
            <p:ph type="title"/>
          </p:nvPr>
        </p:nvSpPr>
        <p:spPr>
          <a:xfrm>
            <a:off x="123143" y="282489"/>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Proposed Methodology</a:t>
            </a:r>
          </a:p>
        </p:txBody>
      </p:sp>
      <p:sp>
        <p:nvSpPr>
          <p:cNvPr id="4" name="Slide Number Placeholder 3">
            <a:extLst>
              <a:ext uri="{FF2B5EF4-FFF2-40B4-BE49-F238E27FC236}">
                <a16:creationId xmlns:a16="http://schemas.microsoft.com/office/drawing/2014/main" id="{46C902FA-2B52-F8DD-8AD9-6223FEE24891}"/>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10</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0CC3CDD-9ADE-37D4-0B1F-B4A1665204D2}"/>
              </a:ext>
            </a:extLst>
          </p:cNvPr>
          <p:cNvSpPr txBox="1"/>
          <p:nvPr/>
        </p:nvSpPr>
        <p:spPr>
          <a:xfrm>
            <a:off x="1646276" y="759247"/>
            <a:ext cx="184731" cy="369332"/>
          </a:xfrm>
          <a:prstGeom prst="rect">
            <a:avLst/>
          </a:prstGeom>
          <a:noFill/>
        </p:spPr>
        <p:txBody>
          <a:bodyPr wrap="none" rtlCol="0">
            <a:spAutoFit/>
          </a:bodyPr>
          <a:lstStyle/>
          <a:p>
            <a:endParaRPr lang="en-US" dirty="0"/>
          </a:p>
        </p:txBody>
      </p:sp>
      <p:pic>
        <p:nvPicPr>
          <p:cNvPr id="10" name="Picture 9">
            <a:extLst>
              <a:ext uri="{FF2B5EF4-FFF2-40B4-BE49-F238E27FC236}">
                <a16:creationId xmlns:a16="http://schemas.microsoft.com/office/drawing/2014/main" id="{8968EC5C-50B8-2CE5-79FA-8F5C044F2FE6}"/>
              </a:ext>
            </a:extLst>
          </p:cNvPr>
          <p:cNvPicPr>
            <a:picLocks noChangeAspect="1"/>
          </p:cNvPicPr>
          <p:nvPr/>
        </p:nvPicPr>
        <p:blipFill>
          <a:blip r:embed="rId4"/>
          <a:stretch>
            <a:fillRect/>
          </a:stretch>
        </p:blipFill>
        <p:spPr>
          <a:xfrm>
            <a:off x="0" y="1227952"/>
            <a:ext cx="12127424" cy="4510587"/>
          </a:xfrm>
          <a:prstGeom prst="rect">
            <a:avLst/>
          </a:prstGeom>
        </p:spPr>
      </p:pic>
    </p:spTree>
    <p:extLst>
      <p:ext uri="{BB962C8B-B14F-4D97-AF65-F5344CB8AC3E}">
        <p14:creationId xmlns:p14="http://schemas.microsoft.com/office/powerpoint/2010/main" val="1948278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0A973-E789-24AA-E893-90FAD5C805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00BF08-E73E-6A9C-9A85-113FA762B66D}"/>
              </a:ext>
            </a:extLst>
          </p:cNvPr>
          <p:cNvSpPr>
            <a:spLocks noGrp="1"/>
          </p:cNvSpPr>
          <p:nvPr>
            <p:ph idx="1"/>
          </p:nvPr>
        </p:nvSpPr>
        <p:spPr>
          <a:xfrm>
            <a:off x="573189" y="1227952"/>
            <a:ext cx="10677965" cy="4402095"/>
          </a:xfrm>
        </p:spPr>
        <p:txBody>
          <a:bodyPr>
            <a:normAutofit/>
          </a:bodyPr>
          <a:lstStyle/>
          <a:p>
            <a:pPr marL="0" indent="0" algn="l">
              <a:buNone/>
            </a:pPr>
            <a:r>
              <a:rPr lang="en-IN" sz="2000" i="0" dirty="0">
                <a:solidFill>
                  <a:srgbClr val="333333"/>
                </a:solidFill>
                <a:latin typeface="Times New Roman" panose="02020603050405020304" pitchFamily="18" charset="0"/>
                <a:cs typeface="Times New Roman" panose="02020603050405020304" pitchFamily="18" charset="0"/>
              </a:rPr>
              <a:t>Our team contributions and roles:</a:t>
            </a:r>
          </a:p>
          <a:p>
            <a:r>
              <a:rPr lang="en-IN" sz="2000" i="0" dirty="0">
                <a:solidFill>
                  <a:srgbClr val="333333"/>
                </a:solidFill>
                <a:latin typeface="Times New Roman" panose="02020603050405020304" pitchFamily="18" charset="0"/>
                <a:cs typeface="Times New Roman" panose="02020603050405020304" pitchFamily="18" charset="0"/>
              </a:rPr>
              <a:t>Kalyan Chakravarthy </a:t>
            </a:r>
            <a:r>
              <a:rPr lang="en-IN" sz="2000" i="0" dirty="0" err="1">
                <a:solidFill>
                  <a:srgbClr val="333333"/>
                </a:solidFill>
                <a:latin typeface="Times New Roman" panose="02020603050405020304" pitchFamily="18" charset="0"/>
                <a:cs typeface="Times New Roman" panose="02020603050405020304" pitchFamily="18" charset="0"/>
              </a:rPr>
              <a:t>Paleti</a:t>
            </a:r>
            <a:r>
              <a:rPr lang="en-IN" sz="2000" i="0" dirty="0">
                <a:solidFill>
                  <a:srgbClr val="333333"/>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Assisted in preparing research papers and conducting literature evaluation, ensuring findings and techniques were clearly articulated and well-supported.</a:t>
            </a:r>
          </a:p>
          <a:p>
            <a:r>
              <a:rPr lang="en-US" sz="2000" dirty="0">
                <a:latin typeface="Times New Roman" panose="02020603050405020304" pitchFamily="18" charset="0"/>
                <a:cs typeface="Times New Roman" panose="02020603050405020304" pitchFamily="18" charset="0"/>
              </a:rPr>
              <a:t>Surya Teja </a:t>
            </a:r>
            <a:r>
              <a:rPr lang="en-US" sz="2000" dirty="0" err="1">
                <a:latin typeface="Times New Roman" panose="02020603050405020304" pitchFamily="18" charset="0"/>
                <a:cs typeface="Times New Roman" panose="02020603050405020304" pitchFamily="18" charset="0"/>
              </a:rPr>
              <a:t>Nagamalla</a:t>
            </a:r>
            <a:r>
              <a:rPr lang="en-US" sz="2000" dirty="0">
                <a:latin typeface="Times New Roman" panose="02020603050405020304" pitchFamily="18" charset="0"/>
                <a:cs typeface="Times New Roman" panose="02020603050405020304" pitchFamily="18" charset="0"/>
              </a:rPr>
              <a:t>: Developed the core model using GPT-4, implementing strategies for symptom evaluation, text summarization, and overall model construction and coding.</a:t>
            </a:r>
          </a:p>
          <a:p>
            <a:r>
              <a:rPr lang="en-US" sz="2000" dirty="0">
                <a:effectLst/>
                <a:latin typeface="Times New Roman" panose="02020603050405020304" pitchFamily="18" charset="0"/>
                <a:ea typeface="Aptos" panose="020B0004020202020204" pitchFamily="34" charset="0"/>
                <a:cs typeface="Times New Roman" panose="02020603050405020304" pitchFamily="18" charset="0"/>
              </a:rPr>
              <a:t>Tarun </a:t>
            </a:r>
            <a:r>
              <a:rPr lang="en-US" sz="2000" dirty="0" err="1">
                <a:effectLst/>
                <a:latin typeface="Times New Roman" panose="02020603050405020304" pitchFamily="18" charset="0"/>
                <a:ea typeface="Aptos" panose="020B0004020202020204" pitchFamily="34" charset="0"/>
                <a:cs typeface="Times New Roman" panose="02020603050405020304" pitchFamily="18" charset="0"/>
              </a:rPr>
              <a:t>Konda:In</a:t>
            </a:r>
            <a:r>
              <a:rPr lang="en-US" sz="2000" dirty="0">
                <a:effectLst/>
                <a:latin typeface="Times New Roman" panose="02020603050405020304" pitchFamily="18" charset="0"/>
                <a:ea typeface="Aptos" panose="020B0004020202020204" pitchFamily="34" charset="0"/>
                <a:cs typeface="Times New Roman" panose="02020603050405020304" pitchFamily="18" charset="0"/>
              </a:rPr>
              <a:t> order to make sure the chatbot system is operational, understandable, and equipped to handle real-world healthcare scenarios, this member will supervise the integration of the model into an intelligible </a:t>
            </a:r>
            <a:r>
              <a:rPr lang="en-US" sz="2000" dirty="0" err="1">
                <a:effectLst/>
                <a:latin typeface="Times New Roman" panose="02020603050405020304" pitchFamily="18" charset="0"/>
                <a:ea typeface="Aptos" panose="020B0004020202020204" pitchFamily="34" charset="0"/>
                <a:cs typeface="Times New Roman" panose="02020603050405020304" pitchFamily="18" charset="0"/>
              </a:rPr>
              <a:t>Streamlit</a:t>
            </a:r>
            <a:r>
              <a:rPr lang="en-US" sz="2000" dirty="0">
                <a:effectLst/>
                <a:latin typeface="Times New Roman" panose="02020603050405020304" pitchFamily="18" charset="0"/>
                <a:ea typeface="Aptos" panose="020B0004020202020204" pitchFamily="34" charset="0"/>
                <a:cs typeface="Times New Roman" panose="02020603050405020304" pitchFamily="18" charset="0"/>
              </a:rPr>
              <a:t> interface.</a:t>
            </a:r>
          </a:p>
          <a:p>
            <a:endParaRPr lang="en-US" sz="2000" dirty="0">
              <a:latin typeface="Times New Roman" panose="02020603050405020304" pitchFamily="18" charset="0"/>
              <a:cs typeface="Times New Roman" panose="02020603050405020304" pitchFamily="18" charset="0"/>
            </a:endParaRPr>
          </a:p>
          <a:p>
            <a:pPr marL="0" indent="0">
              <a:buNone/>
            </a:pPr>
            <a:r>
              <a:rPr lang="en-US" sz="2000" dirty="0">
                <a:effectLst/>
                <a:latin typeface="Times New Roman" panose="02020603050405020304" pitchFamily="18" charset="0"/>
                <a:cs typeface="Times New Roman" panose="02020603050405020304" pitchFamily="18" charset="0"/>
              </a:rPr>
              <a:t>Overall, it’s a combined work of all of us, strived towards successful completion of project with the instructions and motivation from professor and TA’s. </a:t>
            </a: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3669898-5E02-F39B-806A-21C0E972D3EC}"/>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7AAA3025-2872-B37B-F89F-74692CC808B1}"/>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72A9725D-ADBD-4C94-7940-6D87E36AC8D9}"/>
              </a:ext>
            </a:extLst>
          </p:cNvPr>
          <p:cNvSpPr>
            <a:spLocks noGrp="1"/>
          </p:cNvSpPr>
          <p:nvPr>
            <p:ph type="title"/>
          </p:nvPr>
        </p:nvSpPr>
        <p:spPr>
          <a:xfrm>
            <a:off x="123143" y="282489"/>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Contributions:</a:t>
            </a:r>
          </a:p>
        </p:txBody>
      </p:sp>
      <p:sp>
        <p:nvSpPr>
          <p:cNvPr id="4" name="Slide Number Placeholder 3">
            <a:extLst>
              <a:ext uri="{FF2B5EF4-FFF2-40B4-BE49-F238E27FC236}">
                <a16:creationId xmlns:a16="http://schemas.microsoft.com/office/drawing/2014/main" id="{74D1F447-3BF1-81BA-1076-E20A8EF3D07D}"/>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11</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1B69B05-00E7-56D7-50CE-D7E6A8D57CBE}"/>
              </a:ext>
            </a:extLst>
          </p:cNvPr>
          <p:cNvSpPr txBox="1"/>
          <p:nvPr/>
        </p:nvSpPr>
        <p:spPr>
          <a:xfrm>
            <a:off x="1646276" y="75924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618417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6EFE1-51EE-DB68-3DE1-0F55E6AAAA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83BC2F-5A4C-F856-FDB1-BDB18B23C60B}"/>
              </a:ext>
            </a:extLst>
          </p:cNvPr>
          <p:cNvSpPr>
            <a:spLocks noGrp="1"/>
          </p:cNvSpPr>
          <p:nvPr>
            <p:ph idx="1"/>
          </p:nvPr>
        </p:nvSpPr>
        <p:spPr>
          <a:xfrm>
            <a:off x="573189" y="1172898"/>
            <a:ext cx="10677965" cy="4671848"/>
          </a:xfrm>
        </p:spPr>
        <p:txBody>
          <a:bodyPr>
            <a:normAutofit fontScale="85000" lnSpcReduction="20000"/>
          </a:bodyPr>
          <a:lstStyle/>
          <a:p>
            <a:pPr algn="l"/>
            <a:r>
              <a:rPr lang="en-IN" sz="2200" b="1" i="0" dirty="0">
                <a:solidFill>
                  <a:srgbClr val="222222"/>
                </a:solidFill>
                <a:effectLst/>
                <a:latin typeface="Times New Roman" panose="02020603050405020304" pitchFamily="18" charset="0"/>
                <a:cs typeface="Times New Roman" panose="02020603050405020304" pitchFamily="18" charset="0"/>
              </a:rPr>
              <a:t>Format</a:t>
            </a:r>
            <a:r>
              <a:rPr lang="en-IN" sz="2200" b="0" i="0" dirty="0">
                <a:solidFill>
                  <a:srgbClr val="222222"/>
                </a:solidFill>
                <a:effectLst/>
                <a:latin typeface="Times New Roman" panose="02020603050405020304" pitchFamily="18" charset="0"/>
                <a:cs typeface="Times New Roman" panose="02020603050405020304" pitchFamily="18" charset="0"/>
              </a:rPr>
              <a:t>: The dataset comprises medical interviews recorded in the form of Objective Structured Clinical Examinations (OSCE).</a:t>
            </a:r>
          </a:p>
          <a:p>
            <a:pPr algn="l"/>
            <a:r>
              <a:rPr lang="en-IN" sz="2200" b="1" i="0" dirty="0">
                <a:solidFill>
                  <a:srgbClr val="222222"/>
                </a:solidFill>
                <a:effectLst/>
                <a:latin typeface="Times New Roman" panose="02020603050405020304" pitchFamily="18" charset="0"/>
                <a:cs typeface="Times New Roman" panose="02020603050405020304" pitchFamily="18" charset="0"/>
              </a:rPr>
              <a:t>Total Cases</a:t>
            </a:r>
            <a:r>
              <a:rPr lang="en-IN" sz="2200" b="0" i="0" dirty="0">
                <a:solidFill>
                  <a:srgbClr val="222222"/>
                </a:solidFill>
                <a:effectLst/>
                <a:latin typeface="Times New Roman" panose="02020603050405020304" pitchFamily="18" charset="0"/>
                <a:cs typeface="Times New Roman" panose="02020603050405020304" pitchFamily="18" charset="0"/>
              </a:rPr>
              <a:t>: 272 simulated cases between physicians and patients.</a:t>
            </a:r>
          </a:p>
          <a:p>
            <a:pPr algn="l"/>
            <a:r>
              <a:rPr lang="en-IN" sz="2200" b="1" i="0" dirty="0">
                <a:solidFill>
                  <a:srgbClr val="222222"/>
                </a:solidFill>
                <a:effectLst/>
                <a:latin typeface="Times New Roman" panose="02020603050405020304" pitchFamily="18" charset="0"/>
                <a:cs typeface="Times New Roman" panose="02020603050405020304" pitchFamily="18" charset="0"/>
              </a:rPr>
              <a:t>Categorization</a:t>
            </a:r>
            <a:r>
              <a:rPr lang="en-IN" sz="2200" b="0" i="0" dirty="0">
                <a:solidFill>
                  <a:srgbClr val="222222"/>
                </a:solidFill>
                <a:effectLst/>
                <a:latin typeface="Times New Roman" panose="02020603050405020304" pitchFamily="18" charset="0"/>
                <a:cs typeface="Times New Roman" panose="02020603050405020304" pitchFamily="18" charset="0"/>
              </a:rPr>
              <a:t>: Each case is classified into one of five categories:</a:t>
            </a:r>
          </a:p>
          <a:p>
            <a:pPr algn="l">
              <a:buFont typeface="Arial" panose="020B0604020202020204" pitchFamily="34" charset="0"/>
              <a:buChar char="•"/>
            </a:pPr>
            <a:r>
              <a:rPr lang="en-IN" sz="2200" b="1" i="0" dirty="0">
                <a:solidFill>
                  <a:srgbClr val="222222"/>
                </a:solidFill>
                <a:effectLst/>
                <a:latin typeface="Times New Roman" panose="02020603050405020304" pitchFamily="18" charset="0"/>
                <a:cs typeface="Times New Roman" panose="02020603050405020304" pitchFamily="18" charset="0"/>
              </a:rPr>
              <a:t>Respiratory Diseases</a:t>
            </a:r>
            <a:r>
              <a:rPr lang="en-IN" sz="2200" b="0" i="0" dirty="0">
                <a:solidFill>
                  <a:srgbClr val="222222"/>
                </a:solidFill>
                <a:effectLst/>
                <a:latin typeface="Times New Roman" panose="02020603050405020304" pitchFamily="18" charset="0"/>
                <a:cs typeface="Times New Roman" panose="02020603050405020304" pitchFamily="18" charset="0"/>
              </a:rPr>
              <a:t> (majority of cases)</a:t>
            </a:r>
          </a:p>
          <a:p>
            <a:pPr algn="l">
              <a:buFont typeface="Arial" panose="020B0604020202020204" pitchFamily="34" charset="0"/>
              <a:buChar char="•"/>
            </a:pPr>
            <a:r>
              <a:rPr lang="en-IN" sz="2200" b="1" i="0" dirty="0">
                <a:solidFill>
                  <a:srgbClr val="222222"/>
                </a:solidFill>
                <a:effectLst/>
                <a:latin typeface="Times New Roman" panose="02020603050405020304" pitchFamily="18" charset="0"/>
                <a:cs typeface="Times New Roman" panose="02020603050405020304" pitchFamily="18" charset="0"/>
              </a:rPr>
              <a:t>Musculoskeletal Diseases</a:t>
            </a:r>
            <a:endParaRPr lang="en-IN" sz="2200" b="0" i="0" dirty="0">
              <a:solidFill>
                <a:srgbClr val="222222"/>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200" b="1" i="0" dirty="0">
                <a:solidFill>
                  <a:srgbClr val="222222"/>
                </a:solidFill>
                <a:effectLst/>
                <a:latin typeface="Times New Roman" panose="02020603050405020304" pitchFamily="18" charset="0"/>
                <a:cs typeface="Times New Roman" panose="02020603050405020304" pitchFamily="18" charset="0"/>
              </a:rPr>
              <a:t>Cardiac Diseases</a:t>
            </a:r>
            <a:endParaRPr lang="en-IN" sz="2200" b="0" i="0" dirty="0">
              <a:solidFill>
                <a:srgbClr val="222222"/>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200" b="1" i="0" dirty="0">
                <a:solidFill>
                  <a:srgbClr val="222222"/>
                </a:solidFill>
                <a:effectLst/>
                <a:latin typeface="Times New Roman" panose="02020603050405020304" pitchFamily="18" charset="0"/>
                <a:cs typeface="Times New Roman" panose="02020603050405020304" pitchFamily="18" charset="0"/>
              </a:rPr>
              <a:t>Dermatological Diseases</a:t>
            </a:r>
            <a:endParaRPr lang="en-IN" sz="2200" b="0" i="0" dirty="0">
              <a:solidFill>
                <a:srgbClr val="222222"/>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200" b="1" i="0" dirty="0">
                <a:solidFill>
                  <a:srgbClr val="222222"/>
                </a:solidFill>
                <a:effectLst/>
                <a:latin typeface="Times New Roman" panose="02020603050405020304" pitchFamily="18" charset="0"/>
                <a:cs typeface="Times New Roman" panose="02020603050405020304" pitchFamily="18" charset="0"/>
              </a:rPr>
              <a:t>Gastrointestinal Diseases</a:t>
            </a:r>
            <a:endParaRPr lang="en-IN" sz="2200" b="0" i="0" dirty="0">
              <a:solidFill>
                <a:srgbClr val="222222"/>
              </a:solidFill>
              <a:effectLst/>
              <a:latin typeface="Times New Roman" panose="02020603050405020304" pitchFamily="18" charset="0"/>
              <a:cs typeface="Times New Roman" panose="02020603050405020304" pitchFamily="18" charset="0"/>
            </a:endParaRPr>
          </a:p>
          <a:p>
            <a:pPr algn="l"/>
            <a:r>
              <a:rPr lang="en-IN" sz="2200" b="1" i="0" dirty="0">
                <a:solidFill>
                  <a:srgbClr val="222222"/>
                </a:solidFill>
                <a:effectLst/>
                <a:latin typeface="Times New Roman" panose="02020603050405020304" pitchFamily="18" charset="0"/>
                <a:cs typeface="Times New Roman" panose="02020603050405020304" pitchFamily="18" charset="0"/>
              </a:rPr>
              <a:t>Data Contents</a:t>
            </a:r>
            <a:r>
              <a:rPr lang="en-IN" sz="2200" b="0" i="0" dirty="0">
                <a:solidFill>
                  <a:srgbClr val="222222"/>
                </a:solidFill>
                <a:effectLst/>
                <a:latin typeface="Times New Roman" panose="02020603050405020304" pitchFamily="18" charset="0"/>
                <a:cs typeface="Times New Roman" panose="02020603050405020304" pitchFamily="18" charset="0"/>
              </a:rPr>
              <a:t>: Each simulation captures interactions between the physician and the patient, focusing on various medical conditions and diagnostic assessments.</a:t>
            </a:r>
          </a:p>
          <a:p>
            <a:pPr marL="0" indent="0" algn="l">
              <a:buNone/>
            </a:pPr>
            <a:r>
              <a:rPr lang="en-IN" sz="2200" b="1" i="0" dirty="0">
                <a:solidFill>
                  <a:srgbClr val="222222"/>
                </a:solidFill>
                <a:effectLst/>
                <a:latin typeface="Times New Roman" panose="02020603050405020304" pitchFamily="18" charset="0"/>
                <a:cs typeface="Times New Roman" panose="02020603050405020304" pitchFamily="18" charset="0"/>
              </a:rPr>
              <a:t>Link to our  data: </a:t>
            </a:r>
            <a:r>
              <a:rPr lang="en-IN" sz="2200" b="1" i="0" dirty="0">
                <a:solidFill>
                  <a:srgbClr val="1155CC"/>
                </a:solidFill>
                <a:effectLst/>
                <a:latin typeface="Times New Roman" panose="02020603050405020304" pitchFamily="18" charset="0"/>
                <a:cs typeface="Times New Roman" panose="02020603050405020304" pitchFamily="18" charset="0"/>
                <a:hlinkClick r:id="rId2"/>
              </a:rPr>
              <a:t>https://springernature.figshare.com/articles/dataset/Collection_of_simulated_medical_exams/16550013?file=30598530</a:t>
            </a:r>
            <a:br>
              <a:rPr lang="en-IN" sz="2200" dirty="0">
                <a:latin typeface="Times New Roman" panose="02020603050405020304" pitchFamily="18" charset="0"/>
                <a:cs typeface="Times New Roman" panose="02020603050405020304" pitchFamily="18" charset="0"/>
              </a:rPr>
            </a:br>
            <a:endParaRPr lang="en-US" sz="2200" b="0" i="0" dirty="0">
              <a:solidFill>
                <a:srgbClr val="333333"/>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3FA2717-85F8-0205-EE24-5123A747B9BE}"/>
              </a:ext>
            </a:extLst>
          </p:cNvPr>
          <p:cNvPicPr>
            <a:picLocks noChangeAspect="1"/>
          </p:cNvPicPr>
          <p:nvPr/>
        </p:nvPicPr>
        <p:blipFill>
          <a:blip r:embed="rId3"/>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503C4CEF-C9D1-0EC2-FF23-C2799B0831D9}"/>
              </a:ext>
            </a:extLst>
          </p:cNvPr>
          <p:cNvPicPr>
            <a:picLocks noChangeAspect="1"/>
          </p:cNvPicPr>
          <p:nvPr/>
        </p:nvPicPr>
        <p:blipFill>
          <a:blip r:embed="rId4"/>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1C22A13B-928A-CE3B-23F1-9A9F2E6FA10A}"/>
              </a:ext>
            </a:extLst>
          </p:cNvPr>
          <p:cNvSpPr>
            <a:spLocks noGrp="1"/>
          </p:cNvSpPr>
          <p:nvPr>
            <p:ph type="title"/>
          </p:nvPr>
        </p:nvSpPr>
        <p:spPr>
          <a:xfrm>
            <a:off x="675835" y="317223"/>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Data Description</a:t>
            </a:r>
          </a:p>
        </p:txBody>
      </p:sp>
      <p:sp>
        <p:nvSpPr>
          <p:cNvPr id="4" name="Slide Number Placeholder 3">
            <a:extLst>
              <a:ext uri="{FF2B5EF4-FFF2-40B4-BE49-F238E27FC236}">
                <a16:creationId xmlns:a16="http://schemas.microsoft.com/office/drawing/2014/main" id="{96596507-639B-0862-E563-C63F6B6C5068}"/>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12</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40983B6-D2F2-02E0-46F8-E3BE15459444}"/>
              </a:ext>
            </a:extLst>
          </p:cNvPr>
          <p:cNvSpPr txBox="1"/>
          <p:nvPr/>
        </p:nvSpPr>
        <p:spPr>
          <a:xfrm>
            <a:off x="2730674" y="7766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313962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7D45A-27CA-DCF5-5D17-73868689F8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5B100D-4439-9407-DDFA-CF00C4A1BEA7}"/>
              </a:ext>
            </a:extLst>
          </p:cNvPr>
          <p:cNvSpPr>
            <a:spLocks noGrp="1"/>
          </p:cNvSpPr>
          <p:nvPr>
            <p:ph idx="1"/>
          </p:nvPr>
        </p:nvSpPr>
        <p:spPr>
          <a:xfrm>
            <a:off x="573189" y="1227952"/>
            <a:ext cx="10677965" cy="4402095"/>
          </a:xfrm>
        </p:spPr>
        <p:txBody>
          <a:bodyPr>
            <a:normAutofit/>
          </a:bodyPr>
          <a:lstStyle/>
          <a:p>
            <a:pPr marL="0" indent="0">
              <a:lnSpc>
                <a:spcPct val="100000"/>
              </a:lnSpc>
              <a:buNone/>
            </a:pPr>
            <a:r>
              <a:rPr lang="en-IN" sz="2000" b="1" i="0" dirty="0">
                <a:solidFill>
                  <a:srgbClr val="222222"/>
                </a:solidFill>
                <a:effectLst/>
                <a:latin typeface="Times New Roman" panose="02020603050405020304" pitchFamily="18" charset="0"/>
                <a:cs typeface="Times New Roman" panose="02020603050405020304" pitchFamily="18" charset="0"/>
              </a:rPr>
              <a:t>PHASE:1 Audio to text conversion</a:t>
            </a:r>
            <a:endParaRPr lang="en-IN" sz="2000" dirty="0">
              <a:solidFill>
                <a:srgbClr val="222222"/>
              </a:solidFill>
              <a:latin typeface="Times New Roman" panose="02020603050405020304" pitchFamily="18" charset="0"/>
              <a:cs typeface="Times New Roman" panose="02020603050405020304" pitchFamily="18" charset="0"/>
            </a:endParaRPr>
          </a:p>
          <a:p>
            <a:pPr>
              <a:lnSpc>
                <a:spcPct val="100000"/>
              </a:lnSpc>
            </a:pPr>
            <a:r>
              <a:rPr lang="en-US" sz="2000" dirty="0">
                <a:solidFill>
                  <a:srgbClr val="222222"/>
                </a:solidFill>
                <a:latin typeface="Times New Roman" panose="02020603050405020304" pitchFamily="18" charset="0"/>
                <a:cs typeface="Times New Roman" panose="02020603050405020304" pitchFamily="18" charset="0"/>
              </a:rPr>
              <a:t>Used OpenAI Whisper Base Model for transcribing patient-doctor audio conversations.</a:t>
            </a:r>
          </a:p>
          <a:p>
            <a:pPr>
              <a:lnSpc>
                <a:spcPct val="100000"/>
              </a:lnSpc>
            </a:pPr>
            <a:r>
              <a:rPr lang="en-US" sz="2000" dirty="0">
                <a:solidFill>
                  <a:srgbClr val="222222"/>
                </a:solidFill>
                <a:latin typeface="Times New Roman" panose="02020603050405020304" pitchFamily="18" charset="0"/>
                <a:cs typeface="Times New Roman" panose="02020603050405020304" pitchFamily="18" charset="0"/>
              </a:rPr>
              <a:t>Applied "text-embedding-ada-002" for embedding text data and performed cosine similarity to validate transcriptions against cleaned scripts.</a:t>
            </a:r>
            <a:endParaRPr lang="en-IN" sz="2000" dirty="0">
              <a:solidFill>
                <a:srgbClr val="222222"/>
              </a:solidFill>
              <a:latin typeface="Times New Roman" panose="02020603050405020304" pitchFamily="18" charset="0"/>
              <a:cs typeface="Times New Roman" panose="02020603050405020304" pitchFamily="18" charset="0"/>
            </a:endParaRPr>
          </a:p>
          <a:p>
            <a:pPr marL="0" indent="0" algn="l">
              <a:buNone/>
            </a:pPr>
            <a:endParaRPr lang="en-IN" sz="2000" b="0" i="0" dirty="0">
              <a:solidFill>
                <a:srgbClr val="222222"/>
              </a:solidFill>
              <a:effectLst/>
              <a:latin typeface="Times New Roman" panose="02020603050405020304" pitchFamily="18" charset="0"/>
              <a:cs typeface="Times New Roman" panose="02020603050405020304" pitchFamily="18" charset="0"/>
            </a:endParaRPr>
          </a:p>
          <a:p>
            <a:pPr marL="0" indent="0">
              <a:buNone/>
            </a:pPr>
            <a:r>
              <a:rPr lang="en-IN" sz="2000" b="1" i="0" dirty="0">
                <a:solidFill>
                  <a:srgbClr val="222222"/>
                </a:solidFill>
                <a:effectLst/>
                <a:latin typeface="Times New Roman" panose="02020603050405020304" pitchFamily="18" charset="0"/>
                <a:cs typeface="Times New Roman" panose="02020603050405020304" pitchFamily="18" charset="0"/>
              </a:rPr>
              <a:t>PHASE:2 Text preprocessing and Summarization</a:t>
            </a:r>
          </a:p>
          <a:p>
            <a:r>
              <a:rPr lang="en-US" sz="2000" dirty="0">
                <a:solidFill>
                  <a:srgbClr val="222222"/>
                </a:solidFill>
                <a:latin typeface="Times New Roman" panose="02020603050405020304" pitchFamily="18" charset="0"/>
                <a:cs typeface="Times New Roman" panose="02020603050405020304" pitchFamily="18" charset="0"/>
              </a:rPr>
              <a:t>Processed cleaned transcripts through GPT-40-mini for extracting key information.</a:t>
            </a:r>
          </a:p>
          <a:p>
            <a:r>
              <a:rPr lang="en-US" sz="2000" dirty="0">
                <a:solidFill>
                  <a:srgbClr val="222222"/>
                </a:solidFill>
                <a:latin typeface="Times New Roman" panose="02020603050405020304" pitchFamily="18" charset="0"/>
                <a:cs typeface="Times New Roman" panose="02020603050405020304" pitchFamily="18" charset="0"/>
              </a:rPr>
              <a:t>Precisely promoted the model to summarize conversations into structured data.</a:t>
            </a:r>
          </a:p>
          <a:p>
            <a:r>
              <a:rPr lang="en-US" sz="2000" dirty="0">
                <a:solidFill>
                  <a:srgbClr val="222222"/>
                </a:solidFill>
                <a:latin typeface="Times New Roman" panose="02020603050405020304" pitchFamily="18" charset="0"/>
                <a:cs typeface="Times New Roman" panose="02020603050405020304" pitchFamily="18" charset="0"/>
              </a:rPr>
              <a:t>Saved processed data into a .csv file for analysis.</a:t>
            </a:r>
            <a:endParaRPr lang="en-IN" sz="2000" dirty="0">
              <a:solidFill>
                <a:srgbClr val="222222"/>
              </a:solidFill>
              <a:latin typeface="Times New Roman" panose="02020603050405020304" pitchFamily="18" charset="0"/>
              <a:cs typeface="Times New Roman" panose="02020603050405020304" pitchFamily="18" charset="0"/>
            </a:endParaRPr>
          </a:p>
          <a:p>
            <a:pPr marL="0" indent="0">
              <a:buNone/>
            </a:pPr>
            <a:br>
              <a:rPr lang="en-IN" sz="1200" dirty="0"/>
            </a:br>
            <a:endParaRPr lang="en-US" sz="1700" b="0" i="0" dirty="0">
              <a:solidFill>
                <a:srgbClr val="333333"/>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E85ED75-3642-0C52-9436-0EF9FE988B97}"/>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EA09C862-2052-EF40-E1A6-92211D286EAE}"/>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74665E80-AB4A-AFDA-ECE5-649A14B1B29D}"/>
              </a:ext>
            </a:extLst>
          </p:cNvPr>
          <p:cNvSpPr>
            <a:spLocks noGrp="1"/>
          </p:cNvSpPr>
          <p:nvPr>
            <p:ph type="title"/>
          </p:nvPr>
        </p:nvSpPr>
        <p:spPr>
          <a:xfrm>
            <a:off x="801789" y="365125"/>
            <a:ext cx="10677965" cy="780821"/>
          </a:xfrm>
        </p:spPr>
        <p:txBody>
          <a:bodyPr>
            <a:normAutofit fontScale="90000"/>
          </a:bodyPr>
          <a:lstStyle/>
          <a:p>
            <a:r>
              <a:rPr lang="en-US" b="1" dirty="0">
                <a:latin typeface="Times New Roman" panose="02020603050405020304" pitchFamily="18" charset="0"/>
                <a:cs typeface="Times New Roman" panose="02020603050405020304" pitchFamily="18" charset="0"/>
              </a:rPr>
              <a:t>Model Building</a:t>
            </a:r>
            <a:br>
              <a:rPr lang="en-US" dirty="0">
                <a:latin typeface="Times New Roman" panose="02020603050405020304" pitchFamily="18" charset="0"/>
                <a:cs typeface="Times New Roman" panose="02020603050405020304" pitchFamily="18" charset="0"/>
              </a:rPr>
            </a:br>
            <a:endParaRPr lang="en-US" sz="19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BCA642-940F-DD6B-CE0C-24E868BB3EF2}"/>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13</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DE05A0E-29AF-EAD1-705E-3CE5BD229CAE}"/>
              </a:ext>
            </a:extLst>
          </p:cNvPr>
          <p:cNvSpPr txBox="1"/>
          <p:nvPr/>
        </p:nvSpPr>
        <p:spPr>
          <a:xfrm>
            <a:off x="2730674" y="7766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011311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4BF89-E75F-E5E9-2A9D-F14AEC2B9B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B692A3-4018-9277-A80C-44C751BD40DC}"/>
              </a:ext>
            </a:extLst>
          </p:cNvPr>
          <p:cNvSpPr>
            <a:spLocks noGrp="1"/>
          </p:cNvSpPr>
          <p:nvPr>
            <p:ph idx="1"/>
          </p:nvPr>
        </p:nvSpPr>
        <p:spPr>
          <a:xfrm>
            <a:off x="573189" y="1227952"/>
            <a:ext cx="10677965" cy="4402095"/>
          </a:xfrm>
        </p:spPr>
        <p:txBody>
          <a:bodyPr>
            <a:normAutofit/>
          </a:bodyPr>
          <a:lstStyle/>
          <a:p>
            <a:pPr marL="0" indent="0">
              <a:lnSpc>
                <a:spcPct val="100000"/>
              </a:lnSpc>
              <a:buNone/>
            </a:pPr>
            <a:r>
              <a:rPr lang="en-IN" sz="2000" b="1" i="0" dirty="0">
                <a:solidFill>
                  <a:srgbClr val="222222"/>
                </a:solidFill>
                <a:effectLst/>
                <a:latin typeface="Times New Roman" panose="02020603050405020304" pitchFamily="18" charset="0"/>
                <a:cs typeface="Times New Roman" panose="02020603050405020304" pitchFamily="18" charset="0"/>
              </a:rPr>
              <a:t>PHASE:3 Vector data base and Retrieval system</a:t>
            </a:r>
          </a:p>
          <a:p>
            <a:pPr>
              <a:lnSpc>
                <a:spcPct val="100000"/>
              </a:lnSpc>
            </a:pPr>
            <a:r>
              <a:rPr lang="en-IN" sz="2000" dirty="0">
                <a:solidFill>
                  <a:srgbClr val="222222"/>
                </a:solidFill>
                <a:latin typeface="Times New Roman" panose="02020603050405020304" pitchFamily="18" charset="0"/>
                <a:cs typeface="Times New Roman" panose="02020603050405020304" pitchFamily="18" charset="0"/>
              </a:rPr>
              <a:t>We have used </a:t>
            </a:r>
            <a:r>
              <a:rPr lang="en-US" sz="2000" dirty="0">
                <a:solidFill>
                  <a:srgbClr val="222222"/>
                </a:solidFill>
                <a:latin typeface="Times New Roman" panose="02020603050405020304" pitchFamily="18" charset="0"/>
                <a:cs typeface="Times New Roman" panose="02020603050405020304" pitchFamily="18" charset="0"/>
              </a:rPr>
              <a:t> pinecone to store and retrieve vectors and</a:t>
            </a:r>
          </a:p>
          <a:p>
            <a:pPr>
              <a:lnSpc>
                <a:spcPct val="100000"/>
              </a:lnSpc>
            </a:pPr>
            <a:r>
              <a:rPr lang="en-US" sz="2000" dirty="0">
                <a:solidFill>
                  <a:srgbClr val="222222"/>
                </a:solidFill>
                <a:latin typeface="Times New Roman" panose="02020603050405020304" pitchFamily="18" charset="0"/>
                <a:cs typeface="Times New Roman" panose="02020603050405020304" pitchFamily="18" charset="0"/>
              </a:rPr>
              <a:t>Cosine similarity was used to improve retrieval precision.</a:t>
            </a:r>
            <a:endParaRPr lang="en-US" sz="1400" dirty="0">
              <a:solidFill>
                <a:srgbClr val="222222"/>
              </a:solidFill>
              <a:latin typeface="Times New Roman" panose="02020603050405020304" pitchFamily="18" charset="0"/>
              <a:cs typeface="Times New Roman" panose="02020603050405020304" pitchFamily="18" charset="0"/>
            </a:endParaRPr>
          </a:p>
          <a:p>
            <a:pPr marL="0" indent="0">
              <a:lnSpc>
                <a:spcPct val="100000"/>
              </a:lnSpc>
              <a:buNone/>
            </a:pPr>
            <a:r>
              <a:rPr lang="en-US" sz="2000" b="1" u="sng" dirty="0">
                <a:solidFill>
                  <a:srgbClr val="222222"/>
                </a:solidFill>
                <a:latin typeface="Times New Roman" panose="02020603050405020304" pitchFamily="18" charset="0"/>
                <a:cs typeface="Times New Roman" panose="02020603050405020304" pitchFamily="18" charset="0"/>
              </a:rPr>
              <a:t>Integrated with LLM model</a:t>
            </a:r>
          </a:p>
          <a:p>
            <a:pPr marL="0" indent="0">
              <a:lnSpc>
                <a:spcPct val="100000"/>
              </a:lnSpc>
              <a:buNone/>
            </a:pPr>
            <a:r>
              <a:rPr lang="en-IN" sz="2000" dirty="0">
                <a:solidFill>
                  <a:srgbClr val="222222"/>
                </a:solidFill>
                <a:latin typeface="Times New Roman" panose="02020603050405020304" pitchFamily="18" charset="0"/>
                <a:cs typeface="Times New Roman" panose="02020603050405020304" pitchFamily="18" charset="0"/>
              </a:rPr>
              <a:t>To guarantee accuracy and expedite query results, vector databases and LLM were combined.</a:t>
            </a:r>
            <a:endParaRPr lang="en-US" sz="2000" dirty="0">
              <a:solidFill>
                <a:srgbClr val="222222"/>
              </a:solidFill>
              <a:latin typeface="Times New Roman" panose="02020603050405020304" pitchFamily="18" charset="0"/>
              <a:cs typeface="Times New Roman" panose="02020603050405020304" pitchFamily="18" charset="0"/>
            </a:endParaRPr>
          </a:p>
          <a:p>
            <a:pPr marL="0" indent="0">
              <a:buNone/>
            </a:pPr>
            <a:endParaRPr lang="en-IN" sz="2000" b="1" i="0" dirty="0">
              <a:solidFill>
                <a:srgbClr val="222222"/>
              </a:solidFill>
              <a:effectLst/>
              <a:latin typeface="Times New Roman" panose="02020603050405020304" pitchFamily="18" charset="0"/>
              <a:cs typeface="Times New Roman" panose="02020603050405020304" pitchFamily="18" charset="0"/>
            </a:endParaRPr>
          </a:p>
          <a:p>
            <a:pPr marL="0" indent="0">
              <a:buNone/>
            </a:pPr>
            <a:r>
              <a:rPr lang="en-IN" sz="2000" b="1" i="0" dirty="0">
                <a:solidFill>
                  <a:srgbClr val="222222"/>
                </a:solidFill>
                <a:effectLst/>
                <a:latin typeface="Times New Roman" panose="02020603050405020304" pitchFamily="18" charset="0"/>
                <a:cs typeface="Times New Roman" panose="02020603050405020304" pitchFamily="18" charset="0"/>
              </a:rPr>
              <a:t>PHASE:</a:t>
            </a:r>
            <a:r>
              <a:rPr lang="en-IN" sz="2000" b="1" dirty="0">
                <a:solidFill>
                  <a:srgbClr val="222222"/>
                </a:solidFill>
                <a:latin typeface="Times New Roman" panose="02020603050405020304" pitchFamily="18" charset="0"/>
                <a:cs typeface="Times New Roman" panose="02020603050405020304" pitchFamily="18" charset="0"/>
              </a:rPr>
              <a:t>4 Chatbot development and features</a:t>
            </a:r>
          </a:p>
          <a:p>
            <a:pPr marL="0" indent="0">
              <a:buNone/>
            </a:pPr>
            <a:r>
              <a:rPr lang="en-IN" sz="2000" dirty="0">
                <a:solidFill>
                  <a:srgbClr val="222222"/>
                </a:solidFill>
                <a:latin typeface="Times New Roman" panose="02020603050405020304" pitchFamily="18" charset="0"/>
                <a:cs typeface="Times New Roman" panose="02020603050405020304" pitchFamily="18" charset="0"/>
              </a:rPr>
              <a:t>Developed an interactive interface as our end goal “</a:t>
            </a:r>
            <a:r>
              <a:rPr lang="en-IN" sz="2000" dirty="0" err="1">
                <a:solidFill>
                  <a:srgbClr val="222222"/>
                </a:solidFill>
                <a:latin typeface="Times New Roman" panose="02020603050405020304" pitchFamily="18" charset="0"/>
                <a:cs typeface="Times New Roman" panose="02020603050405020304" pitchFamily="18" charset="0"/>
              </a:rPr>
              <a:t>mediconnect</a:t>
            </a:r>
            <a:r>
              <a:rPr lang="en-IN" sz="2000" dirty="0">
                <a:solidFill>
                  <a:srgbClr val="222222"/>
                </a:solidFill>
                <a:latin typeface="Times New Roman" panose="02020603050405020304" pitchFamily="18" charset="0"/>
                <a:cs typeface="Times New Roman" panose="02020603050405020304" pitchFamily="18" charset="0"/>
              </a:rPr>
              <a:t>” chat bot that has features of symptom checking and patient insights of previous conversations.</a:t>
            </a:r>
            <a:br>
              <a:rPr lang="en-IN" sz="1200" dirty="0"/>
            </a:br>
            <a:endParaRPr lang="en-US" sz="1700" b="0" i="0" dirty="0">
              <a:solidFill>
                <a:srgbClr val="333333"/>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C76A458-A6B0-ABAE-EE7A-A3F524BA1289}"/>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33F0CB82-167E-27FA-3F48-8B57C5D3504B}"/>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B78FD68E-4D37-5B01-AE73-10C0FDCB2222}"/>
              </a:ext>
            </a:extLst>
          </p:cNvPr>
          <p:cNvSpPr>
            <a:spLocks noGrp="1"/>
          </p:cNvSpPr>
          <p:nvPr>
            <p:ph type="title"/>
          </p:nvPr>
        </p:nvSpPr>
        <p:spPr>
          <a:xfrm>
            <a:off x="801789" y="365125"/>
            <a:ext cx="10677965" cy="780821"/>
          </a:xfrm>
        </p:spPr>
        <p:txBody>
          <a:bodyPr>
            <a:normAutofit fontScale="90000"/>
          </a:bodyPr>
          <a:lstStyle/>
          <a:p>
            <a:r>
              <a:rPr lang="en-US" b="1" dirty="0">
                <a:latin typeface="Times New Roman" panose="02020603050405020304" pitchFamily="18" charset="0"/>
                <a:cs typeface="Times New Roman" panose="02020603050405020304" pitchFamily="18" charset="0"/>
              </a:rPr>
              <a:t>Model Building</a:t>
            </a:r>
            <a:br>
              <a:rPr lang="en-US" dirty="0">
                <a:latin typeface="Times New Roman" panose="02020603050405020304" pitchFamily="18" charset="0"/>
                <a:cs typeface="Times New Roman" panose="02020603050405020304" pitchFamily="18" charset="0"/>
              </a:rPr>
            </a:br>
            <a:endParaRPr lang="en-US" sz="19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FD913C5-F0C2-EE93-6D84-236342B08E2C}"/>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14</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4E1C778-AA61-A9C6-A608-C0163BD8A13A}"/>
              </a:ext>
            </a:extLst>
          </p:cNvPr>
          <p:cNvSpPr txBox="1"/>
          <p:nvPr/>
        </p:nvSpPr>
        <p:spPr>
          <a:xfrm>
            <a:off x="2730674" y="7766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13903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81A3B-0653-B829-F3E3-7333ACF133E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61D27EE-425E-7803-E359-38EFB5F04B9C}"/>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B80B5334-1C5F-6E0C-91A9-0D8B4FA05FFC}"/>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1D58B092-4CD2-7BFC-E721-7C37034E5A0C}"/>
              </a:ext>
            </a:extLst>
          </p:cNvPr>
          <p:cNvSpPr>
            <a:spLocks noGrp="1"/>
          </p:cNvSpPr>
          <p:nvPr>
            <p:ph type="title"/>
          </p:nvPr>
        </p:nvSpPr>
        <p:spPr>
          <a:xfrm>
            <a:off x="801789" y="365125"/>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Our Work</a:t>
            </a:r>
          </a:p>
        </p:txBody>
      </p:sp>
      <p:sp>
        <p:nvSpPr>
          <p:cNvPr id="4" name="Slide Number Placeholder 3">
            <a:extLst>
              <a:ext uri="{FF2B5EF4-FFF2-40B4-BE49-F238E27FC236}">
                <a16:creationId xmlns:a16="http://schemas.microsoft.com/office/drawing/2014/main" id="{4193E446-7684-169B-99D7-FF9D589E9967}"/>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15</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0BD203F-0298-CAF5-D15B-06C83FFB4D4F}"/>
              </a:ext>
            </a:extLst>
          </p:cNvPr>
          <p:cNvSpPr txBox="1"/>
          <p:nvPr/>
        </p:nvSpPr>
        <p:spPr>
          <a:xfrm>
            <a:off x="2730674" y="776614"/>
            <a:ext cx="184731" cy="369332"/>
          </a:xfrm>
          <a:prstGeom prst="rect">
            <a:avLst/>
          </a:prstGeom>
          <a:noFill/>
        </p:spPr>
        <p:txBody>
          <a:bodyPr wrap="none" rtlCol="0">
            <a:spAutoFit/>
          </a:bodyPr>
          <a:lstStyle/>
          <a:p>
            <a:endParaRPr lang="en-US" dirty="0"/>
          </a:p>
        </p:txBody>
      </p:sp>
      <p:pic>
        <p:nvPicPr>
          <p:cNvPr id="3074" name="Picture 2">
            <a:extLst>
              <a:ext uri="{FF2B5EF4-FFF2-40B4-BE49-F238E27FC236}">
                <a16:creationId xmlns:a16="http://schemas.microsoft.com/office/drawing/2014/main" id="{7E3847A0-0798-3831-6738-B858509807B0}"/>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333500" y="1119894"/>
            <a:ext cx="9017000" cy="4785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2970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7CCD4-0059-2E26-1AD9-B4F055244C8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52FE54C-C876-B7B3-E9DA-1257D03CFDF0}"/>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19E41EA3-B04C-68D1-C6CA-198AF67BABB3}"/>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996973AA-AA4C-3D10-4F6D-067377071A83}"/>
              </a:ext>
            </a:extLst>
          </p:cNvPr>
          <p:cNvSpPr>
            <a:spLocks noGrp="1"/>
          </p:cNvSpPr>
          <p:nvPr>
            <p:ph type="title"/>
          </p:nvPr>
        </p:nvSpPr>
        <p:spPr>
          <a:xfrm>
            <a:off x="801789" y="365125"/>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Our Work</a:t>
            </a:r>
          </a:p>
        </p:txBody>
      </p:sp>
      <p:sp>
        <p:nvSpPr>
          <p:cNvPr id="4" name="Slide Number Placeholder 3">
            <a:extLst>
              <a:ext uri="{FF2B5EF4-FFF2-40B4-BE49-F238E27FC236}">
                <a16:creationId xmlns:a16="http://schemas.microsoft.com/office/drawing/2014/main" id="{58E95871-53F8-C2A6-AD8B-053BD2230C0E}"/>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16</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8354C03-FF80-2F07-BD76-AE2EA41EDEDC}"/>
              </a:ext>
            </a:extLst>
          </p:cNvPr>
          <p:cNvSpPr txBox="1"/>
          <p:nvPr/>
        </p:nvSpPr>
        <p:spPr>
          <a:xfrm>
            <a:off x="2730674" y="776614"/>
            <a:ext cx="184731" cy="369332"/>
          </a:xfrm>
          <a:prstGeom prst="rect">
            <a:avLst/>
          </a:prstGeom>
          <a:noFill/>
        </p:spPr>
        <p:txBody>
          <a:bodyPr wrap="none" rtlCol="0">
            <a:spAutoFit/>
          </a:bodyPr>
          <a:lstStyle/>
          <a:p>
            <a:endParaRPr lang="en-US" dirty="0"/>
          </a:p>
        </p:txBody>
      </p:sp>
      <p:pic>
        <p:nvPicPr>
          <p:cNvPr id="5122" name="Picture 2">
            <a:extLst>
              <a:ext uri="{FF2B5EF4-FFF2-40B4-BE49-F238E27FC236}">
                <a16:creationId xmlns:a16="http://schemas.microsoft.com/office/drawing/2014/main" id="{D5F0132C-4212-A554-579E-6A9C8BCA4167}"/>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095500" y="1531383"/>
            <a:ext cx="7810500" cy="4069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900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FBF8C-61C6-2F48-2AA9-CE67DB16C4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65C478-B10E-6E56-0D91-18BD4300B7E1}"/>
              </a:ext>
            </a:extLst>
          </p:cNvPr>
          <p:cNvSpPr>
            <a:spLocks noGrp="1"/>
          </p:cNvSpPr>
          <p:nvPr>
            <p:ph idx="1"/>
          </p:nvPr>
        </p:nvSpPr>
        <p:spPr>
          <a:xfrm>
            <a:off x="573189" y="841252"/>
            <a:ext cx="10677965" cy="5175498"/>
          </a:xfrm>
        </p:spPr>
        <p:txBody>
          <a:bodyPr>
            <a:normAutofit/>
          </a:bodyPr>
          <a:lstStyle/>
          <a:p>
            <a:pPr algn="l"/>
            <a:r>
              <a:rPr lang="en-IN" sz="2000" b="0" i="0" dirty="0">
                <a:solidFill>
                  <a:srgbClr val="222222"/>
                </a:solidFill>
                <a:effectLst/>
                <a:latin typeface="Times New Roman" panose="02020603050405020304" pitchFamily="18" charset="0"/>
                <a:cs typeface="Times New Roman" panose="02020603050405020304" pitchFamily="18" charset="0"/>
              </a:rPr>
              <a:t>Conducted </a:t>
            </a:r>
            <a:r>
              <a:rPr lang="en-IN" sz="2000" b="1" i="0" dirty="0">
                <a:solidFill>
                  <a:srgbClr val="222222"/>
                </a:solidFill>
                <a:effectLst/>
                <a:latin typeface="Times New Roman" panose="02020603050405020304" pitchFamily="18" charset="0"/>
                <a:cs typeface="Times New Roman" panose="02020603050405020304" pitchFamily="18" charset="0"/>
              </a:rPr>
              <a:t>one-sample t-tests</a:t>
            </a:r>
            <a:r>
              <a:rPr lang="en-IN" sz="2000" b="0" i="0" dirty="0">
                <a:solidFill>
                  <a:srgbClr val="222222"/>
                </a:solidFill>
                <a:effectLst/>
                <a:latin typeface="Times New Roman" panose="02020603050405020304" pitchFamily="18" charset="0"/>
                <a:cs typeface="Times New Roman" panose="02020603050405020304" pitchFamily="18" charset="0"/>
              </a:rPr>
              <a:t> to evaluate if OpenAI Whisper's transcription accuracy is significantly </a:t>
            </a:r>
            <a:r>
              <a:rPr lang="en-IN" sz="2000" dirty="0">
                <a:solidFill>
                  <a:srgbClr val="222222"/>
                </a:solidFill>
                <a:latin typeface="Times New Roman" panose="02020603050405020304" pitchFamily="18" charset="0"/>
                <a:cs typeface="Times New Roman" panose="02020603050405020304" pitchFamily="18" charset="0"/>
              </a:rPr>
              <a:t>below</a:t>
            </a:r>
            <a:r>
              <a:rPr lang="en-IN" sz="2000" b="0" i="0" dirty="0">
                <a:solidFill>
                  <a:srgbClr val="222222"/>
                </a:solidFill>
                <a:effectLst/>
                <a:latin typeface="Times New Roman" panose="02020603050405020304" pitchFamily="18" charset="0"/>
                <a:cs typeface="Times New Roman" panose="02020603050405020304" pitchFamily="18" charset="0"/>
              </a:rPr>
              <a:t> </a:t>
            </a:r>
            <a:r>
              <a:rPr lang="en-IN" sz="2000" b="1" i="0" dirty="0">
                <a:solidFill>
                  <a:srgbClr val="222222"/>
                </a:solidFill>
                <a:effectLst/>
                <a:latin typeface="Times New Roman" panose="02020603050405020304" pitchFamily="18" charset="0"/>
                <a:cs typeface="Times New Roman" panose="02020603050405020304" pitchFamily="18" charset="0"/>
              </a:rPr>
              <a:t>95%</a:t>
            </a:r>
            <a:r>
              <a:rPr lang="en-IN" sz="2000" b="0" i="0" dirty="0">
                <a:solidFill>
                  <a:srgbClr val="222222"/>
                </a:solidFill>
                <a:effectLst/>
                <a:latin typeface="Times New Roman" panose="02020603050405020304" pitchFamily="18" charset="0"/>
                <a:cs typeface="Times New Roman" panose="02020603050405020304" pitchFamily="18" charset="0"/>
              </a:rPr>
              <a:t>.</a:t>
            </a:r>
          </a:p>
          <a:p>
            <a:pPr algn="l"/>
            <a:r>
              <a:rPr lang="en-IN" sz="2000" b="0" i="0" dirty="0" err="1">
                <a:solidFill>
                  <a:srgbClr val="222222"/>
                </a:solidFill>
                <a:effectLst/>
                <a:latin typeface="Times New Roman" panose="02020603050405020304" pitchFamily="18" charset="0"/>
                <a:cs typeface="Times New Roman" panose="02020603050405020304" pitchFamily="18" charset="0"/>
              </a:rPr>
              <a:t>Analyzed</a:t>
            </a:r>
            <a:r>
              <a:rPr lang="en-IN" sz="2000" b="0" i="0" dirty="0">
                <a:solidFill>
                  <a:srgbClr val="222222"/>
                </a:solidFill>
                <a:effectLst/>
                <a:latin typeface="Times New Roman" panose="02020603050405020304" pitchFamily="18" charset="0"/>
                <a:cs typeface="Times New Roman" panose="02020603050405020304" pitchFamily="18" charset="0"/>
              </a:rPr>
              <a:t> a sample of </a:t>
            </a:r>
            <a:r>
              <a:rPr lang="en-IN" sz="2000" b="1" i="0" dirty="0">
                <a:solidFill>
                  <a:srgbClr val="222222"/>
                </a:solidFill>
                <a:effectLst/>
                <a:latin typeface="Times New Roman" panose="02020603050405020304" pitchFamily="18" charset="0"/>
                <a:cs typeface="Times New Roman" panose="02020603050405020304" pitchFamily="18" charset="0"/>
              </a:rPr>
              <a:t>transcribed cases</a:t>
            </a:r>
            <a:r>
              <a:rPr lang="en-IN" sz="2000" b="0" i="0" dirty="0">
                <a:solidFill>
                  <a:srgbClr val="222222"/>
                </a:solidFill>
                <a:effectLst/>
                <a:latin typeface="Times New Roman" panose="02020603050405020304" pitchFamily="18" charset="0"/>
                <a:cs typeface="Times New Roman" panose="02020603050405020304" pitchFamily="18" charset="0"/>
              </a:rPr>
              <a:t> to compare the accuracy against a population mean of </a:t>
            </a:r>
            <a:r>
              <a:rPr lang="en-IN" sz="2000" b="1" i="0" dirty="0">
                <a:solidFill>
                  <a:srgbClr val="222222"/>
                </a:solidFill>
                <a:effectLst/>
                <a:latin typeface="Times New Roman" panose="02020603050405020304" pitchFamily="18" charset="0"/>
                <a:cs typeface="Times New Roman" panose="02020603050405020304" pitchFamily="18" charset="0"/>
              </a:rPr>
              <a:t>95%</a:t>
            </a:r>
            <a:r>
              <a:rPr lang="en-IN" sz="2000" b="0" i="0" dirty="0">
                <a:solidFill>
                  <a:srgbClr val="222222"/>
                </a:solidFill>
                <a:effectLst/>
                <a:latin typeface="Times New Roman" panose="02020603050405020304" pitchFamily="18" charset="0"/>
                <a:cs typeface="Times New Roman" panose="02020603050405020304" pitchFamily="18" charset="0"/>
              </a:rPr>
              <a:t>.</a:t>
            </a:r>
          </a:p>
          <a:p>
            <a:pPr algn="l"/>
            <a:r>
              <a:rPr lang="en-IN" sz="2000" b="0" i="0" dirty="0">
                <a:solidFill>
                  <a:srgbClr val="222222"/>
                </a:solidFill>
                <a:effectLst/>
                <a:latin typeface="Times New Roman" panose="02020603050405020304" pitchFamily="18" charset="0"/>
                <a:cs typeface="Times New Roman" panose="02020603050405020304" pitchFamily="18" charset="0"/>
              </a:rPr>
              <a:t>Calculated the </a:t>
            </a:r>
            <a:r>
              <a:rPr lang="en-IN" sz="2000" b="1" i="0" dirty="0">
                <a:solidFill>
                  <a:srgbClr val="222222"/>
                </a:solidFill>
                <a:effectLst/>
                <a:latin typeface="Times New Roman" panose="02020603050405020304" pitchFamily="18" charset="0"/>
                <a:cs typeface="Times New Roman" panose="02020603050405020304" pitchFamily="18" charset="0"/>
              </a:rPr>
              <a:t>t-statistic</a:t>
            </a:r>
            <a:r>
              <a:rPr lang="en-IN" sz="2000" b="0" i="0" dirty="0">
                <a:solidFill>
                  <a:srgbClr val="222222"/>
                </a:solidFill>
                <a:effectLst/>
                <a:latin typeface="Times New Roman" panose="02020603050405020304" pitchFamily="18" charset="0"/>
                <a:cs typeface="Times New Roman" panose="02020603050405020304" pitchFamily="18" charset="0"/>
              </a:rPr>
              <a:t> and </a:t>
            </a:r>
            <a:r>
              <a:rPr lang="en-IN" sz="2000" b="1" i="0" dirty="0">
                <a:solidFill>
                  <a:srgbClr val="222222"/>
                </a:solidFill>
                <a:effectLst/>
                <a:latin typeface="Times New Roman" panose="02020603050405020304" pitchFamily="18" charset="0"/>
                <a:cs typeface="Times New Roman" panose="02020603050405020304" pitchFamily="18" charset="0"/>
              </a:rPr>
              <a:t>one-tailed p-value</a:t>
            </a:r>
            <a:r>
              <a:rPr lang="en-IN" sz="2000" b="0" i="0" dirty="0">
                <a:solidFill>
                  <a:srgbClr val="222222"/>
                </a:solidFill>
                <a:effectLst/>
                <a:latin typeface="Times New Roman" panose="02020603050405020304" pitchFamily="18" charset="0"/>
                <a:cs typeface="Times New Roman" panose="02020603050405020304" pitchFamily="18" charset="0"/>
              </a:rPr>
              <a:t> to test the hypothesis that Whisper's performance meets or exceeds the expected accuracy.</a:t>
            </a:r>
          </a:p>
          <a:p>
            <a:pPr algn="l"/>
            <a:r>
              <a:rPr lang="en-IN" sz="2000" b="0" i="0" dirty="0">
                <a:solidFill>
                  <a:srgbClr val="222222"/>
                </a:solidFill>
                <a:effectLst/>
                <a:latin typeface="Times New Roman" panose="02020603050405020304" pitchFamily="18" charset="0"/>
                <a:cs typeface="Times New Roman" panose="02020603050405020304" pitchFamily="18" charset="0"/>
              </a:rPr>
              <a:t>Established a significance level (</a:t>
            </a:r>
            <a:r>
              <a:rPr lang="el-GR" sz="2000" b="1" i="0" dirty="0">
                <a:solidFill>
                  <a:srgbClr val="222222"/>
                </a:solidFill>
                <a:effectLst/>
                <a:latin typeface="Times New Roman" panose="02020603050405020304" pitchFamily="18" charset="0"/>
                <a:cs typeface="Times New Roman" panose="02020603050405020304" pitchFamily="18" charset="0"/>
              </a:rPr>
              <a:t>α = 0.05</a:t>
            </a:r>
            <a:r>
              <a:rPr lang="el-GR" sz="2000" b="0" i="0" dirty="0">
                <a:solidFill>
                  <a:srgbClr val="222222"/>
                </a:solidFill>
                <a:effectLst/>
                <a:latin typeface="Times New Roman" panose="02020603050405020304" pitchFamily="18" charset="0"/>
                <a:cs typeface="Times New Roman" panose="02020603050405020304" pitchFamily="18" charset="0"/>
              </a:rPr>
              <a:t>) </a:t>
            </a:r>
            <a:r>
              <a:rPr lang="en-IN" sz="2000" b="0" i="0" dirty="0">
                <a:solidFill>
                  <a:srgbClr val="222222"/>
                </a:solidFill>
                <a:effectLst/>
                <a:latin typeface="Times New Roman" panose="02020603050405020304" pitchFamily="18" charset="0"/>
                <a:cs typeface="Times New Roman" panose="02020603050405020304" pitchFamily="18" charset="0"/>
              </a:rPr>
              <a:t>to determine if the results provide sufficient evidence to reject the null hypothesis.</a:t>
            </a:r>
          </a:p>
          <a:p>
            <a:pPr marL="0" indent="0">
              <a:buNone/>
            </a:pPr>
            <a:endParaRPr lang="en-IN" sz="1200" b="0" i="0" dirty="0">
              <a:solidFill>
                <a:srgbClr val="222222"/>
              </a:solidFill>
              <a:effectLst/>
              <a:latin typeface="Arial" panose="020B0604020202020204" pitchFamily="34" charset="0"/>
            </a:endParaRPr>
          </a:p>
          <a:p>
            <a:pPr marL="0" indent="0">
              <a:buNone/>
            </a:pPr>
            <a:endParaRPr lang="en-US" sz="1700" b="0" i="0" dirty="0">
              <a:solidFill>
                <a:srgbClr val="333333"/>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F8AFC70-E4C3-731F-803C-8204CB498CAF}"/>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D3E31D28-9461-1908-3E79-35C39CF70D6B}"/>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8AF57ACB-1669-5828-573E-E1E559BCDDE0}"/>
              </a:ext>
            </a:extLst>
          </p:cNvPr>
          <p:cNvSpPr>
            <a:spLocks noGrp="1"/>
          </p:cNvSpPr>
          <p:nvPr>
            <p:ph type="title"/>
          </p:nvPr>
        </p:nvSpPr>
        <p:spPr>
          <a:xfrm>
            <a:off x="801789" y="365125"/>
            <a:ext cx="10677965" cy="476125"/>
          </a:xfrm>
        </p:spPr>
        <p:txBody>
          <a:bodyPr>
            <a:normAutofit fontScale="90000"/>
          </a:bodyPr>
          <a:lstStyle/>
          <a:p>
            <a:r>
              <a:rPr lang="en-US" b="1" dirty="0">
                <a:latin typeface="Times New Roman" panose="02020603050405020304" pitchFamily="18" charset="0"/>
                <a:cs typeface="Times New Roman" panose="02020603050405020304" pitchFamily="18" charset="0"/>
              </a:rPr>
              <a:t>Statistical Test</a:t>
            </a:r>
          </a:p>
        </p:txBody>
      </p:sp>
      <p:sp>
        <p:nvSpPr>
          <p:cNvPr id="4" name="Slide Number Placeholder 3">
            <a:extLst>
              <a:ext uri="{FF2B5EF4-FFF2-40B4-BE49-F238E27FC236}">
                <a16:creationId xmlns:a16="http://schemas.microsoft.com/office/drawing/2014/main" id="{5DDA2631-17DD-8416-86AF-C6E50F3ADAAA}"/>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17</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890038B-F5C2-3814-F36A-17A29C542435}"/>
              </a:ext>
            </a:extLst>
          </p:cNvPr>
          <p:cNvSpPr txBox="1"/>
          <p:nvPr/>
        </p:nvSpPr>
        <p:spPr>
          <a:xfrm>
            <a:off x="2730674" y="776614"/>
            <a:ext cx="184731" cy="369332"/>
          </a:xfrm>
          <a:prstGeom prst="rect">
            <a:avLst/>
          </a:prstGeom>
          <a:noFill/>
        </p:spPr>
        <p:txBody>
          <a:bodyPr wrap="none" rtlCol="0">
            <a:spAutoFit/>
          </a:bodyPr>
          <a:lstStyle/>
          <a:p>
            <a:endParaRPr lang="en-US" dirty="0"/>
          </a:p>
        </p:txBody>
      </p:sp>
      <p:pic>
        <p:nvPicPr>
          <p:cNvPr id="6" name="Picture 5" descr="A graph with a blue line&#10;&#10;Description automatically generated">
            <a:extLst>
              <a:ext uri="{FF2B5EF4-FFF2-40B4-BE49-F238E27FC236}">
                <a16:creationId xmlns:a16="http://schemas.microsoft.com/office/drawing/2014/main" id="{4EEAF467-9A30-C254-AA69-69B8E86E9E49}"/>
              </a:ext>
            </a:extLst>
          </p:cNvPr>
          <p:cNvPicPr>
            <a:picLocks noChangeAspect="1"/>
          </p:cNvPicPr>
          <p:nvPr/>
        </p:nvPicPr>
        <p:blipFill>
          <a:blip r:embed="rId4"/>
          <a:stretch>
            <a:fillRect/>
          </a:stretch>
        </p:blipFill>
        <p:spPr>
          <a:xfrm>
            <a:off x="801789" y="3583459"/>
            <a:ext cx="4660900" cy="2433290"/>
          </a:xfrm>
          <a:prstGeom prst="rect">
            <a:avLst/>
          </a:prstGeom>
        </p:spPr>
      </p:pic>
      <p:sp>
        <p:nvSpPr>
          <p:cNvPr id="8" name="TextBox 7">
            <a:extLst>
              <a:ext uri="{FF2B5EF4-FFF2-40B4-BE49-F238E27FC236}">
                <a16:creationId xmlns:a16="http://schemas.microsoft.com/office/drawing/2014/main" id="{B1734424-9BCA-B105-2CFA-515303FEA1FF}"/>
              </a:ext>
            </a:extLst>
          </p:cNvPr>
          <p:cNvSpPr txBox="1"/>
          <p:nvPr/>
        </p:nvSpPr>
        <p:spPr>
          <a:xfrm>
            <a:off x="5803916" y="4003589"/>
            <a:ext cx="5230667" cy="2108269"/>
          </a:xfrm>
          <a:prstGeom prst="rect">
            <a:avLst/>
          </a:prstGeom>
          <a:noFill/>
        </p:spPr>
        <p:txBody>
          <a:bodyPr wrap="square" rtlCol="0">
            <a:spAutoFit/>
          </a:bodyPr>
          <a:lstStyle/>
          <a:p>
            <a:pPr algn="l"/>
            <a:r>
              <a:rPr lang="en-IN" sz="2000" b="1" i="0" dirty="0">
                <a:solidFill>
                  <a:srgbClr val="222222"/>
                </a:solidFill>
                <a:effectLst/>
                <a:latin typeface="Times New Roman" panose="02020603050405020304" pitchFamily="18" charset="0"/>
                <a:cs typeface="Times New Roman" panose="02020603050405020304" pitchFamily="18" charset="0"/>
              </a:rPr>
              <a:t>Result</a:t>
            </a:r>
            <a:r>
              <a:rPr lang="en-IN" sz="2000" b="0" i="0" dirty="0">
                <a:solidFill>
                  <a:srgbClr val="222222"/>
                </a:solidFill>
                <a:effectLst/>
                <a:latin typeface="Times New Roman" panose="02020603050405020304" pitchFamily="18" charset="0"/>
                <a:cs typeface="Times New Roman" panose="02020603050405020304" pitchFamily="18" charset="0"/>
              </a:rPr>
              <a:t>: </a:t>
            </a:r>
          </a:p>
          <a:p>
            <a:pPr algn="l"/>
            <a:r>
              <a:rPr lang="en-IN" sz="2000" b="0" i="0" dirty="0">
                <a:solidFill>
                  <a:srgbClr val="222222"/>
                </a:solidFill>
                <a:effectLst/>
                <a:latin typeface="Times New Roman" panose="02020603050405020304" pitchFamily="18" charset="0"/>
                <a:cs typeface="Times New Roman" panose="02020603050405020304" pitchFamily="18" charset="0"/>
              </a:rPr>
              <a:t>From the t test:  We Reject the null hypothesis</a:t>
            </a:r>
            <a:r>
              <a:rPr lang="en-IN" sz="2000" dirty="0">
                <a:solidFill>
                  <a:srgbClr val="222222"/>
                </a:solidFill>
                <a:latin typeface="Times New Roman" panose="02020603050405020304" pitchFamily="18" charset="0"/>
                <a:cs typeface="Times New Roman" panose="02020603050405020304" pitchFamily="18" charset="0"/>
              </a:rPr>
              <a:t>.</a:t>
            </a:r>
          </a:p>
          <a:p>
            <a:pPr algn="l"/>
            <a:r>
              <a:rPr lang="en-IN" sz="2000" dirty="0">
                <a:solidFill>
                  <a:srgbClr val="222222"/>
                </a:solidFill>
                <a:latin typeface="Times New Roman" panose="02020603050405020304" pitchFamily="18" charset="0"/>
                <a:cs typeface="Times New Roman" panose="02020603050405020304" pitchFamily="18" charset="0"/>
              </a:rPr>
              <a:t>Open AI whisper transcribes audio files with an accuracy greater than 95 %.</a:t>
            </a:r>
            <a:br>
              <a:rPr lang="en-IN" sz="1700" dirty="0">
                <a:solidFill>
                  <a:srgbClr val="222222"/>
                </a:solidFill>
                <a:latin typeface="Times New Roman" panose="02020603050405020304" pitchFamily="18" charset="0"/>
                <a:cs typeface="Times New Roman" panose="02020603050405020304" pitchFamily="18" charset="0"/>
              </a:rPr>
            </a:br>
            <a:endParaRPr lang="en-IN" sz="1700" b="0" i="0" dirty="0">
              <a:solidFill>
                <a:srgbClr val="222222"/>
              </a:solidFill>
              <a:effectLst/>
              <a:latin typeface="Times New Roman" panose="02020603050405020304" pitchFamily="18" charset="0"/>
              <a:cs typeface="Times New Roman" panose="02020603050405020304" pitchFamily="18" charset="0"/>
            </a:endParaRPr>
          </a:p>
          <a:p>
            <a:br>
              <a:rPr lang="en-IN" sz="1700" dirty="0">
                <a:latin typeface="Times New Roman" panose="02020603050405020304" pitchFamily="18" charset="0"/>
                <a:cs typeface="Times New Roman" panose="02020603050405020304" pitchFamily="18" charset="0"/>
              </a:rPr>
            </a:b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4723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FDDB9-2113-9111-E25D-04EED3562C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640C92-CA76-6A23-41A5-95096C3C6EEA}"/>
              </a:ext>
            </a:extLst>
          </p:cNvPr>
          <p:cNvSpPr>
            <a:spLocks noGrp="1"/>
          </p:cNvSpPr>
          <p:nvPr>
            <p:ph idx="1"/>
          </p:nvPr>
        </p:nvSpPr>
        <p:spPr>
          <a:xfrm>
            <a:off x="573189" y="1559360"/>
            <a:ext cx="10677965" cy="4070687"/>
          </a:xfrm>
        </p:spPr>
        <p:txBody>
          <a:bodyPr>
            <a:normAutofit/>
          </a:bodyPr>
          <a:lstStyle/>
          <a:p>
            <a:r>
              <a:rPr lang="en-US" sz="2000" dirty="0">
                <a:solidFill>
                  <a:srgbClr val="222222"/>
                </a:solidFill>
                <a:latin typeface="Times New Roman" panose="02020603050405020304" pitchFamily="18" charset="0"/>
                <a:cs typeface="Times New Roman" panose="02020603050405020304" pitchFamily="18" charset="0"/>
              </a:rPr>
              <a:t>Custom LLM Development: Improving the accuracy and stability of a tailored LLM for healthcare use cases by fine-tuning it using larger medical datasets.</a:t>
            </a:r>
          </a:p>
          <a:p>
            <a:r>
              <a:rPr lang="en-US" sz="2000" dirty="0">
                <a:solidFill>
                  <a:srgbClr val="222222"/>
                </a:solidFill>
                <a:latin typeface="Times New Roman" panose="02020603050405020304" pitchFamily="18" charset="0"/>
                <a:cs typeface="Times New Roman" panose="02020603050405020304" pitchFamily="18" charset="0"/>
              </a:rPr>
              <a:t>Domain-Specific Information: Using medical context and words to successfully manage challenging situations.</a:t>
            </a:r>
          </a:p>
          <a:p>
            <a:r>
              <a:rPr lang="en-US" sz="2000" dirty="0">
                <a:solidFill>
                  <a:srgbClr val="222222"/>
                </a:solidFill>
                <a:latin typeface="Times New Roman" panose="02020603050405020304" pitchFamily="18" charset="0"/>
                <a:cs typeface="Times New Roman" panose="02020603050405020304" pitchFamily="18" charset="0"/>
              </a:rPr>
              <a:t>Healthcare Integration: To speed up bigger deployments, easily connect with Electronic Health Records (EHR) and other healthcare IT systems.</a:t>
            </a:r>
          </a:p>
          <a:p>
            <a:r>
              <a:rPr lang="en-US" sz="2000" dirty="0">
                <a:solidFill>
                  <a:srgbClr val="222222"/>
                </a:solidFill>
                <a:latin typeface="Times New Roman" panose="02020603050405020304" pitchFamily="18" charset="0"/>
                <a:cs typeface="Times New Roman" panose="02020603050405020304" pitchFamily="18" charset="0"/>
              </a:rPr>
              <a:t>Healthcare Empowerment: Using AI-driven insights to improve physician decision-making and deliver individualized treatment to patients.</a:t>
            </a:r>
          </a:p>
          <a:p>
            <a:r>
              <a:rPr lang="en-US" sz="2000" dirty="0">
                <a:solidFill>
                  <a:srgbClr val="222222"/>
                </a:solidFill>
                <a:latin typeface="Times New Roman" panose="02020603050405020304" pitchFamily="18" charset="0"/>
                <a:cs typeface="Times New Roman" panose="02020603050405020304" pitchFamily="18" charset="0"/>
              </a:rPr>
              <a:t>Redefining Patient Care: Developing a future in which artificial intelligence (AI) transforms patient outcomes by bridging the gap between unprocessed data and workable healthcare solutions.</a:t>
            </a:r>
            <a:br>
              <a:rPr lang="en-US" sz="1400" dirty="0"/>
            </a:br>
            <a:endParaRPr lang="en-IN" sz="2000" b="0" i="0" dirty="0">
              <a:solidFill>
                <a:srgbClr val="222222"/>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63552B1-FBA8-D828-6938-D1769D7C83FB}"/>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F9CA9297-C0EA-2B1D-2C12-A44FBBACAB65}"/>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B114636C-AEF8-40BA-6147-31807429602F}"/>
              </a:ext>
            </a:extLst>
          </p:cNvPr>
          <p:cNvSpPr>
            <a:spLocks noGrp="1"/>
          </p:cNvSpPr>
          <p:nvPr>
            <p:ph type="title"/>
          </p:nvPr>
        </p:nvSpPr>
        <p:spPr>
          <a:xfrm>
            <a:off x="573189" y="365125"/>
            <a:ext cx="10906565" cy="754769"/>
          </a:xfrm>
        </p:spPr>
        <p:txBody>
          <a:bodyPr>
            <a:normAutofit/>
          </a:bodyPr>
          <a:lstStyle/>
          <a:p>
            <a:r>
              <a:rPr lang="en-US" b="1" dirty="0">
                <a:latin typeface="Times New Roman" panose="02020603050405020304" pitchFamily="18" charset="0"/>
                <a:cs typeface="Times New Roman" panose="02020603050405020304" pitchFamily="18" charset="0"/>
              </a:rPr>
              <a:t>Conclusion</a:t>
            </a:r>
          </a:p>
        </p:txBody>
      </p:sp>
      <p:sp>
        <p:nvSpPr>
          <p:cNvPr id="4" name="Slide Number Placeholder 3">
            <a:extLst>
              <a:ext uri="{FF2B5EF4-FFF2-40B4-BE49-F238E27FC236}">
                <a16:creationId xmlns:a16="http://schemas.microsoft.com/office/drawing/2014/main" id="{D0C5EDA8-6687-B018-AEDB-E5E83523CFE9}"/>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18</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9856F9D-0E8D-480C-1E8D-4BCA92453BCE}"/>
              </a:ext>
            </a:extLst>
          </p:cNvPr>
          <p:cNvSpPr txBox="1"/>
          <p:nvPr/>
        </p:nvSpPr>
        <p:spPr>
          <a:xfrm>
            <a:off x="1968674" y="804591"/>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770912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A6E3-4025-10C6-425D-B32DB46FCC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F1ED50-D6AB-6451-B221-2941E4690C9D}"/>
              </a:ext>
            </a:extLst>
          </p:cNvPr>
          <p:cNvSpPr>
            <a:spLocks noGrp="1"/>
          </p:cNvSpPr>
          <p:nvPr>
            <p:ph idx="1"/>
          </p:nvPr>
        </p:nvSpPr>
        <p:spPr>
          <a:xfrm>
            <a:off x="573189" y="1227952"/>
            <a:ext cx="10677965" cy="4402095"/>
          </a:xfrm>
        </p:spPr>
        <p:txBody>
          <a:bodyPr>
            <a:normAutofit/>
          </a:bodyPr>
          <a:lstStyle/>
          <a:p>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Chiu, C., Tripathi, A., Chou, K., Co, C., </a:t>
            </a:r>
            <a:r>
              <a:rPr lang="en-US" sz="2000" kern="100" dirty="0" err="1">
                <a:effectLst/>
                <a:latin typeface="Times New Roman" panose="02020603050405020304" pitchFamily="18" charset="0"/>
                <a:ea typeface="Aptos" panose="020B0004020202020204" pitchFamily="34" charset="0"/>
                <a:cs typeface="Times New Roman" panose="02020603050405020304" pitchFamily="18" charset="0"/>
              </a:rPr>
              <a:t>Jaitly</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 N., </a:t>
            </a:r>
            <a:r>
              <a:rPr lang="en-US" sz="2000" kern="100" dirty="0" err="1">
                <a:effectLst/>
                <a:latin typeface="Times New Roman" panose="02020603050405020304" pitchFamily="18" charset="0"/>
                <a:ea typeface="Aptos" panose="020B0004020202020204" pitchFamily="34" charset="0"/>
                <a:cs typeface="Times New Roman" panose="02020603050405020304" pitchFamily="18" charset="0"/>
              </a:rPr>
              <a:t>Jaunzeikare</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 D., Kannan, A., Nguyen, P., Sak, H., Sankar, A., </a:t>
            </a:r>
            <a:r>
              <a:rPr lang="en-US" sz="2000" kern="100" dirty="0" err="1">
                <a:effectLst/>
                <a:latin typeface="Times New Roman" panose="02020603050405020304" pitchFamily="18" charset="0"/>
                <a:ea typeface="Aptos" panose="020B0004020202020204" pitchFamily="34" charset="0"/>
                <a:cs typeface="Times New Roman" panose="02020603050405020304" pitchFamily="18" charset="0"/>
              </a:rPr>
              <a:t>Tansuwan</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 J., Wan, N., Wu, Y., &amp; Zhang, X. (2018). Speech Recognition for Medical Conversations. </a:t>
            </a:r>
            <a:r>
              <a:rPr lang="en-US" sz="2000" i="1" kern="100" dirty="0">
                <a:effectLst/>
                <a:latin typeface="Times New Roman" panose="02020603050405020304" pitchFamily="18" charset="0"/>
                <a:ea typeface="Aptos" panose="020B0004020202020204" pitchFamily="34" charset="0"/>
                <a:cs typeface="Times New Roman" panose="02020603050405020304" pitchFamily="18" charset="0"/>
              </a:rPr>
              <a:t>IEEE</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0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2"/>
              </a:rPr>
              <a:t>https://doi.org/10.21437/interspeech.2018-40</a:t>
            </a:r>
            <a:b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b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pP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Spiller, T. R., Rabe, F., Ben-Zion, Z., </a:t>
            </a:r>
            <a:r>
              <a:rPr lang="en-US" sz="2000" kern="100" dirty="0" err="1">
                <a:effectLst/>
                <a:latin typeface="Times New Roman" panose="02020603050405020304" pitchFamily="18" charset="0"/>
                <a:ea typeface="Aptos" panose="020B0004020202020204" pitchFamily="34" charset="0"/>
                <a:cs typeface="Times New Roman" panose="02020603050405020304" pitchFamily="18" charset="0"/>
              </a:rPr>
              <a:t>Korem</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 N., </a:t>
            </a:r>
            <a:r>
              <a:rPr lang="en-US" sz="2000" kern="100" dirty="0" err="1">
                <a:effectLst/>
                <a:latin typeface="Times New Roman" panose="02020603050405020304" pitchFamily="18" charset="0"/>
                <a:ea typeface="Aptos" panose="020B0004020202020204" pitchFamily="34" charset="0"/>
                <a:cs typeface="Times New Roman" panose="02020603050405020304" pitchFamily="18" charset="0"/>
              </a:rPr>
              <a:t>Burrer</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 A., Homan, P., … </a:t>
            </a:r>
            <a:r>
              <a:rPr lang="en-US" sz="2000" kern="100" dirty="0" err="1">
                <a:effectLst/>
                <a:latin typeface="Times New Roman" panose="02020603050405020304" pitchFamily="18" charset="0"/>
                <a:ea typeface="Aptos" panose="020B0004020202020204" pitchFamily="34" charset="0"/>
                <a:cs typeface="Times New Roman" panose="02020603050405020304" pitchFamily="18" charset="0"/>
              </a:rPr>
              <a:t>Duek</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 O. (2023, April 27). Efficient and Accurate Transcription in Mental Health Research - A Tutorial on Using Whisper AI for Audio File Transcription. </a:t>
            </a:r>
            <a:r>
              <a:rPr lang="en-US" sz="20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3"/>
              </a:rPr>
              <a:t>https://doi.org/10.31219/osf.io/9fue8</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pP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Liu, Y., Ju, S., &amp; Wang, J. (2024). Exploring the potential of ChatGPT in medical dialogue summarization: a study on consistency with human preferences. </a:t>
            </a:r>
            <a:r>
              <a:rPr lang="en-US" sz="2000" i="1" kern="100" dirty="0">
                <a:effectLst/>
                <a:latin typeface="Times New Roman" panose="02020603050405020304" pitchFamily="18" charset="0"/>
                <a:ea typeface="Aptos" panose="020B0004020202020204" pitchFamily="34" charset="0"/>
                <a:cs typeface="Times New Roman" panose="02020603050405020304" pitchFamily="18" charset="0"/>
              </a:rPr>
              <a:t>BMC Medical Informatics and Decision Making</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000" i="1" kern="100" dirty="0">
                <a:effectLst/>
                <a:latin typeface="Times New Roman" panose="02020603050405020304" pitchFamily="18" charset="0"/>
                <a:ea typeface="Aptos" panose="020B0004020202020204" pitchFamily="34" charset="0"/>
                <a:cs typeface="Times New Roman" panose="02020603050405020304" pitchFamily="18" charset="0"/>
              </a:rPr>
              <a:t>24</a:t>
            </a: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(1). </a:t>
            </a:r>
            <a:r>
              <a:rPr lang="en-US" sz="2000" u="sng" kern="100" dirty="0">
                <a:solidFill>
                  <a:srgbClr val="467886"/>
                </a:solidFill>
                <a:latin typeface="Times New Roman" panose="02020603050405020304" pitchFamily="18" charset="0"/>
                <a:cs typeface="Times New Roman" panose="02020603050405020304" pitchFamily="18" charset="0"/>
              </a:rPr>
              <a:t>https://</a:t>
            </a:r>
            <a:r>
              <a:rPr lang="en-US" sz="2000" u="sng" kern="100" dirty="0" err="1">
                <a:solidFill>
                  <a:srgbClr val="467886"/>
                </a:solidFill>
                <a:latin typeface="Times New Roman" panose="02020603050405020304" pitchFamily="18" charset="0"/>
                <a:cs typeface="Times New Roman" panose="02020603050405020304" pitchFamily="18" charset="0"/>
              </a:rPr>
              <a:t>doi.org</a:t>
            </a:r>
            <a:r>
              <a:rPr lang="en-US" sz="2000" u="sng" kern="100" dirty="0">
                <a:solidFill>
                  <a:srgbClr val="467886"/>
                </a:solidFill>
                <a:latin typeface="Times New Roman" panose="02020603050405020304" pitchFamily="18" charset="0"/>
                <a:cs typeface="Times New Roman" panose="02020603050405020304" pitchFamily="18" charset="0"/>
              </a:rPr>
              <a:t>/10.1186/s12911-024-02481-8</a:t>
            </a:r>
          </a:p>
          <a:p>
            <a:pPr>
              <a:lnSpc>
                <a:spcPct val="115000"/>
              </a:lnSpc>
              <a:spcAft>
                <a:spcPts val="800"/>
              </a:spcAft>
            </a:pP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A1F30129-3070-C899-D52C-5887AF087540}"/>
              </a:ext>
            </a:extLst>
          </p:cNvPr>
          <p:cNvPicPr>
            <a:picLocks noChangeAspect="1"/>
          </p:cNvPicPr>
          <p:nvPr/>
        </p:nvPicPr>
        <p:blipFill>
          <a:blip r:embed="rId4"/>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15AEC8FD-FB43-AB6B-575D-317BE5991E4E}"/>
              </a:ext>
            </a:extLst>
          </p:cNvPr>
          <p:cNvPicPr>
            <a:picLocks noChangeAspect="1"/>
          </p:cNvPicPr>
          <p:nvPr/>
        </p:nvPicPr>
        <p:blipFill>
          <a:blip r:embed="rId5"/>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25418F08-0EB0-5955-36A5-C6E19E1520CE}"/>
              </a:ext>
            </a:extLst>
          </p:cNvPr>
          <p:cNvSpPr>
            <a:spLocks noGrp="1"/>
          </p:cNvSpPr>
          <p:nvPr>
            <p:ph type="title"/>
          </p:nvPr>
        </p:nvSpPr>
        <p:spPr>
          <a:xfrm>
            <a:off x="801789" y="365125"/>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References</a:t>
            </a:r>
          </a:p>
        </p:txBody>
      </p:sp>
      <p:sp>
        <p:nvSpPr>
          <p:cNvPr id="4" name="Slide Number Placeholder 3">
            <a:extLst>
              <a:ext uri="{FF2B5EF4-FFF2-40B4-BE49-F238E27FC236}">
                <a16:creationId xmlns:a16="http://schemas.microsoft.com/office/drawing/2014/main" id="{BFDBDC57-4F0F-9C82-359F-6B67748F4A84}"/>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19</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CC6F4CE-197C-C107-70E4-075E18FCC6ED}"/>
              </a:ext>
            </a:extLst>
          </p:cNvPr>
          <p:cNvSpPr txBox="1"/>
          <p:nvPr/>
        </p:nvSpPr>
        <p:spPr>
          <a:xfrm>
            <a:off x="2730674" y="7766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301130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C7DAD-55C2-648E-23C0-20814CF679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EEED53-228B-2A51-2A52-8F248736A9F6}"/>
              </a:ext>
            </a:extLst>
          </p:cNvPr>
          <p:cNvSpPr>
            <a:spLocks noGrp="1"/>
          </p:cNvSpPr>
          <p:nvPr>
            <p:ph idx="1"/>
          </p:nvPr>
        </p:nvSpPr>
        <p:spPr>
          <a:xfrm>
            <a:off x="573189" y="1227952"/>
            <a:ext cx="10677965" cy="4402095"/>
          </a:xfrm>
        </p:spPr>
        <p:txBody>
          <a:bodyPr>
            <a:normAutofit/>
          </a:bodyPr>
          <a:lstStyle/>
          <a:p>
            <a:pPr>
              <a:lnSpc>
                <a:spcPct val="115000"/>
              </a:lnSpc>
              <a:spcAft>
                <a:spcPts val="800"/>
              </a:spcAft>
            </a:pPr>
            <a:r>
              <a:rPr lang="en-US" sz="2000" kern="100" dirty="0">
                <a:latin typeface="Times New Roman" panose="02020603050405020304" pitchFamily="18" charset="0"/>
                <a:cs typeface="Times New Roman" panose="02020603050405020304" pitchFamily="18" charset="0"/>
              </a:rPr>
              <a:t>S. K. S, J. W. K. G, G. M. K. E, M. R. J, R. G. Singh A and Y. E, "A RAG-based Medical Assistant Especially for Infectious Diseases," 2024 International Conference on Inventive Computation Technologies (ICICT), Lalitpur, Nepal, 2024, pp. 1128-1133, </a:t>
            </a:r>
            <a:r>
              <a:rPr lang="en-US" sz="2000" kern="100" dirty="0" err="1">
                <a:latin typeface="Times New Roman" panose="02020603050405020304" pitchFamily="18" charset="0"/>
                <a:cs typeface="Times New Roman" panose="02020603050405020304" pitchFamily="18" charset="0"/>
              </a:rPr>
              <a:t>doi</a:t>
            </a:r>
            <a:r>
              <a:rPr lang="en-US" sz="2000" kern="100" dirty="0">
                <a:latin typeface="Times New Roman" panose="02020603050405020304" pitchFamily="18" charset="0"/>
                <a:cs typeface="Times New Roman" panose="02020603050405020304" pitchFamily="18" charset="0"/>
              </a:rPr>
              <a:t>: 10.1109/ICICT60155.2024.10544639.</a:t>
            </a:r>
          </a:p>
          <a:p>
            <a:pPr>
              <a:lnSpc>
                <a:spcPct val="115000"/>
              </a:lnSpc>
              <a:spcAft>
                <a:spcPts val="800"/>
              </a:spcAft>
            </a:pPr>
            <a:r>
              <a:rPr lang="en-US" sz="2000" kern="100" dirty="0">
                <a:latin typeface="Times New Roman" panose="02020603050405020304" pitchFamily="18" charset="0"/>
                <a:cs typeface="Times New Roman" panose="02020603050405020304" pitchFamily="18" charset="0"/>
              </a:rPr>
              <a:t>Bora, A., &amp; </a:t>
            </a:r>
            <a:r>
              <a:rPr lang="en-US" sz="2000" kern="100" dirty="0" err="1">
                <a:latin typeface="Times New Roman" panose="02020603050405020304" pitchFamily="18" charset="0"/>
                <a:cs typeface="Times New Roman" panose="02020603050405020304" pitchFamily="18" charset="0"/>
              </a:rPr>
              <a:t>Cuayáhuitl</a:t>
            </a:r>
            <a:r>
              <a:rPr lang="en-US" sz="2000" kern="100" dirty="0">
                <a:latin typeface="Times New Roman" panose="02020603050405020304" pitchFamily="18" charset="0"/>
                <a:cs typeface="Times New Roman" panose="02020603050405020304" pitchFamily="18" charset="0"/>
              </a:rPr>
              <a:t>, H. (2024). Systematic Analysis of Retrieval-Augmented Generation-Based LLMs for Medical Chatbot Applications. Machine Learning and Knowledge Extraction, 6(4), 2355–2374. https://</a:t>
            </a:r>
            <a:r>
              <a:rPr lang="en-US" sz="2000" kern="100" dirty="0" err="1">
                <a:latin typeface="Times New Roman" panose="02020603050405020304" pitchFamily="18" charset="0"/>
                <a:cs typeface="Times New Roman" panose="02020603050405020304" pitchFamily="18" charset="0"/>
              </a:rPr>
              <a:t>doi.org</a:t>
            </a:r>
            <a:r>
              <a:rPr lang="en-US" sz="2000" kern="100" dirty="0">
                <a:latin typeface="Times New Roman" panose="02020603050405020304" pitchFamily="18" charset="0"/>
                <a:cs typeface="Times New Roman" panose="02020603050405020304" pitchFamily="18" charset="0"/>
              </a:rPr>
              <a:t>/10.3390/make6040116</a:t>
            </a:r>
          </a:p>
          <a:p>
            <a:pPr marL="0" indent="0">
              <a:buNone/>
            </a:pP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800" b="0" i="0" dirty="0">
              <a:solidFill>
                <a:srgbClr val="333333"/>
              </a:solidFill>
              <a:latin typeface="Aptos" panose="020B000402020202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06E5214F-0737-DD34-1528-0E48873A9292}"/>
              </a:ext>
            </a:extLst>
          </p:cNvPr>
          <p:cNvPicPr>
            <a:picLocks noChangeAspect="1"/>
          </p:cNvPicPr>
          <p:nvPr/>
        </p:nvPicPr>
        <p:blipFill>
          <a:blip r:embed="rId2"/>
          <a:stretch>
            <a:fillRect/>
          </a:stretch>
        </p:blipFill>
        <p:spPr>
          <a:xfrm>
            <a:off x="9606580" y="6329398"/>
            <a:ext cx="2358689" cy="113868"/>
          </a:xfrm>
          <a:prstGeom prst="rect">
            <a:avLst/>
          </a:prstGeom>
        </p:spPr>
      </p:pic>
      <p:pic>
        <p:nvPicPr>
          <p:cNvPr id="11" name="Picture 10">
            <a:extLst>
              <a:ext uri="{FF2B5EF4-FFF2-40B4-BE49-F238E27FC236}">
                <a16:creationId xmlns:a16="http://schemas.microsoft.com/office/drawing/2014/main" id="{2AE423C6-2FCF-848E-5C1F-430F82516646}"/>
              </a:ext>
            </a:extLst>
          </p:cNvPr>
          <p:cNvPicPr>
            <a:picLocks noChangeAspect="1"/>
          </p:cNvPicPr>
          <p:nvPr/>
        </p:nvPicPr>
        <p:blipFill>
          <a:blip r:embed="rId3"/>
          <a:stretch>
            <a:fillRect/>
          </a:stretch>
        </p:blipFill>
        <p:spPr>
          <a:xfrm>
            <a:off x="231962" y="6016749"/>
            <a:ext cx="1599045" cy="685305"/>
          </a:xfrm>
          <a:prstGeom prst="rect">
            <a:avLst/>
          </a:prstGeom>
        </p:spPr>
      </p:pic>
      <p:sp>
        <p:nvSpPr>
          <p:cNvPr id="7" name="Title 1">
            <a:extLst>
              <a:ext uri="{FF2B5EF4-FFF2-40B4-BE49-F238E27FC236}">
                <a16:creationId xmlns:a16="http://schemas.microsoft.com/office/drawing/2014/main" id="{3106281F-3A01-D5FD-E3C0-E49D56257898}"/>
              </a:ext>
            </a:extLst>
          </p:cNvPr>
          <p:cNvSpPr>
            <a:spLocks noGrp="1"/>
          </p:cNvSpPr>
          <p:nvPr>
            <p:ph type="title"/>
          </p:nvPr>
        </p:nvSpPr>
        <p:spPr>
          <a:xfrm>
            <a:off x="801789" y="365125"/>
            <a:ext cx="10677965" cy="754769"/>
          </a:xfrm>
        </p:spPr>
        <p:txBody>
          <a:bodyPr>
            <a:normAutofit/>
          </a:bodyPr>
          <a:lstStyle/>
          <a:p>
            <a:r>
              <a:rPr lang="en-US" b="1" dirty="0">
                <a:latin typeface="Times New Roman" panose="02020603050405020304" pitchFamily="18" charset="0"/>
                <a:cs typeface="Times New Roman" panose="02020603050405020304" pitchFamily="18" charset="0"/>
              </a:rPr>
              <a:t>References</a:t>
            </a:r>
          </a:p>
        </p:txBody>
      </p:sp>
      <p:sp>
        <p:nvSpPr>
          <p:cNvPr id="4" name="Slide Number Placeholder 3">
            <a:extLst>
              <a:ext uri="{FF2B5EF4-FFF2-40B4-BE49-F238E27FC236}">
                <a16:creationId xmlns:a16="http://schemas.microsoft.com/office/drawing/2014/main" id="{E76E9206-1785-4CB1-E067-0DBCB2F30A67}"/>
              </a:ext>
            </a:extLst>
          </p:cNvPr>
          <p:cNvSpPr>
            <a:spLocks noGrp="1"/>
          </p:cNvSpPr>
          <p:nvPr>
            <p:ph type="sldNum" sz="quarter" idx="12"/>
          </p:nvPr>
        </p:nvSpPr>
        <p:spPr/>
        <p:txBody>
          <a:bodyPr/>
          <a:lstStyle/>
          <a:p>
            <a:fld id="{F860F34E-4A79-A240-AEA8-3E29BB228B1B}" type="slidenum">
              <a:rPr lang="en-US" smtClean="0">
                <a:latin typeface="Times New Roman" panose="02020603050405020304" pitchFamily="18" charset="0"/>
                <a:cs typeface="Times New Roman" panose="02020603050405020304" pitchFamily="18" charset="0"/>
              </a:rPr>
              <a:t>20</a:t>
            </a:fld>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77B2AE8-89FB-39FB-B8E1-9CD0CE63B122}"/>
              </a:ext>
            </a:extLst>
          </p:cNvPr>
          <p:cNvSpPr txBox="1"/>
          <p:nvPr/>
        </p:nvSpPr>
        <p:spPr>
          <a:xfrm>
            <a:off x="2730674" y="7766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983890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F402B760-09FB-7348-8C67-DCAC88C6CBC2}"/>
              </a:ext>
            </a:extLst>
          </p:cNvPr>
          <p:cNvSpPr/>
          <p:nvPr/>
        </p:nvSpPr>
        <p:spPr>
          <a:xfrm>
            <a:off x="8076008" y="1039839"/>
            <a:ext cx="3457401" cy="3457401"/>
          </a:xfrm>
          <a:prstGeom prst="ellipse">
            <a:avLst/>
          </a:prstGeom>
          <a:solidFill>
            <a:srgbClr val="74C42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endParaRPr lang="en-US" sz="1500" dirty="0">
              <a:ln w="0"/>
              <a:solidFill>
                <a:schemeClr val="bg1"/>
              </a:solidFill>
              <a:effectLst>
                <a:outerShdw blurRad="38100" dist="19050" dir="2700000" algn="tl" rotWithShape="0">
                  <a:schemeClr val="dk1">
                    <a:alpha val="40000"/>
                  </a:schemeClr>
                </a:outerShdw>
              </a:effectLst>
            </a:endParaRPr>
          </a:p>
        </p:txBody>
      </p:sp>
      <p:sp>
        <p:nvSpPr>
          <p:cNvPr id="21" name="Oval 20">
            <a:extLst>
              <a:ext uri="{FF2B5EF4-FFF2-40B4-BE49-F238E27FC236}">
                <a16:creationId xmlns:a16="http://schemas.microsoft.com/office/drawing/2014/main" id="{10A4EF44-D1A3-E14E-BB09-389A47FCDC48}"/>
              </a:ext>
            </a:extLst>
          </p:cNvPr>
          <p:cNvSpPr/>
          <p:nvPr/>
        </p:nvSpPr>
        <p:spPr>
          <a:xfrm>
            <a:off x="6124379" y="1774456"/>
            <a:ext cx="2496674" cy="2496674"/>
          </a:xfrm>
          <a:prstGeom prst="ellipse">
            <a:avLst/>
          </a:prstGeom>
          <a:solidFill>
            <a:srgbClr val="007B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endParaRPr lang="en-US" sz="1300" dirty="0">
              <a:ln w="0"/>
              <a:solidFill>
                <a:schemeClr val="bg1"/>
              </a:solidFill>
              <a:effectLst>
                <a:outerShdw blurRad="38100" dist="19050" dir="2700000" algn="tl" rotWithShape="0">
                  <a:schemeClr val="dk1">
                    <a:alpha val="40000"/>
                  </a:schemeClr>
                </a:outerShdw>
              </a:effectLst>
            </a:endParaRPr>
          </a:p>
        </p:txBody>
      </p:sp>
      <p:sp>
        <p:nvSpPr>
          <p:cNvPr id="22" name="Oval 21">
            <a:extLst>
              <a:ext uri="{FF2B5EF4-FFF2-40B4-BE49-F238E27FC236}">
                <a16:creationId xmlns:a16="http://schemas.microsoft.com/office/drawing/2014/main" id="{683A2ACE-0D5E-384B-9A6E-674AEC575B68}"/>
              </a:ext>
            </a:extLst>
          </p:cNvPr>
          <p:cNvSpPr/>
          <p:nvPr/>
        </p:nvSpPr>
        <p:spPr>
          <a:xfrm>
            <a:off x="7512922" y="3762622"/>
            <a:ext cx="1946630" cy="1946630"/>
          </a:xfrm>
          <a:prstGeom prst="ellipse">
            <a:avLst/>
          </a:prstGeom>
          <a:solidFill>
            <a:srgbClr val="00A65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endParaRPr lang="en-US" sz="1300" dirty="0">
              <a:ln w="0"/>
              <a:solidFill>
                <a:schemeClr val="bg1"/>
              </a:solidFill>
              <a:effectLst>
                <a:outerShdw blurRad="38100" dist="19050" dir="2700000" algn="tl" rotWithShape="0">
                  <a:schemeClr val="dk1">
                    <a:alpha val="40000"/>
                  </a:schemeClr>
                </a:outerShdw>
              </a:effectLst>
            </a:endParaRPr>
          </a:p>
        </p:txBody>
      </p:sp>
      <p:pic>
        <p:nvPicPr>
          <p:cNvPr id="24" name="Picture 23">
            <a:extLst>
              <a:ext uri="{FF2B5EF4-FFF2-40B4-BE49-F238E27FC236}">
                <a16:creationId xmlns:a16="http://schemas.microsoft.com/office/drawing/2014/main" id="{FB2AF749-8A90-084D-9E88-6F607893C5B7}"/>
              </a:ext>
            </a:extLst>
          </p:cNvPr>
          <p:cNvPicPr>
            <a:picLocks noChangeAspect="1"/>
          </p:cNvPicPr>
          <p:nvPr/>
        </p:nvPicPr>
        <p:blipFill>
          <a:blip r:embed="rId2"/>
          <a:stretch>
            <a:fillRect/>
          </a:stretch>
        </p:blipFill>
        <p:spPr>
          <a:xfrm>
            <a:off x="9384903" y="1310738"/>
            <a:ext cx="839610" cy="927436"/>
          </a:xfrm>
          <a:prstGeom prst="rect">
            <a:avLst/>
          </a:prstGeom>
        </p:spPr>
      </p:pic>
      <p:pic>
        <p:nvPicPr>
          <p:cNvPr id="25" name="Picture 24">
            <a:extLst>
              <a:ext uri="{FF2B5EF4-FFF2-40B4-BE49-F238E27FC236}">
                <a16:creationId xmlns:a16="http://schemas.microsoft.com/office/drawing/2014/main" id="{A9675027-528B-EB43-A286-5E8E73779BB3}"/>
              </a:ext>
            </a:extLst>
          </p:cNvPr>
          <p:cNvPicPr>
            <a:picLocks noChangeAspect="1"/>
          </p:cNvPicPr>
          <p:nvPr/>
        </p:nvPicPr>
        <p:blipFill>
          <a:blip r:embed="rId2"/>
          <a:stretch>
            <a:fillRect/>
          </a:stretch>
        </p:blipFill>
        <p:spPr>
          <a:xfrm>
            <a:off x="7026259" y="2179707"/>
            <a:ext cx="608650" cy="672317"/>
          </a:xfrm>
          <a:prstGeom prst="rect">
            <a:avLst/>
          </a:prstGeom>
        </p:spPr>
      </p:pic>
      <p:pic>
        <p:nvPicPr>
          <p:cNvPr id="26" name="Picture 25">
            <a:extLst>
              <a:ext uri="{FF2B5EF4-FFF2-40B4-BE49-F238E27FC236}">
                <a16:creationId xmlns:a16="http://schemas.microsoft.com/office/drawing/2014/main" id="{FCBEC96E-9508-B645-BDEB-A15BFDD9BA90}"/>
              </a:ext>
            </a:extLst>
          </p:cNvPr>
          <p:cNvPicPr>
            <a:picLocks noChangeAspect="1"/>
          </p:cNvPicPr>
          <p:nvPr/>
        </p:nvPicPr>
        <p:blipFill>
          <a:blip r:embed="rId2"/>
          <a:stretch>
            <a:fillRect/>
          </a:stretch>
        </p:blipFill>
        <p:spPr>
          <a:xfrm>
            <a:off x="8262513" y="4071080"/>
            <a:ext cx="447447" cy="494252"/>
          </a:xfrm>
          <a:prstGeom prst="rect">
            <a:avLst/>
          </a:prstGeom>
        </p:spPr>
      </p:pic>
      <p:pic>
        <p:nvPicPr>
          <p:cNvPr id="12" name="Picture 11">
            <a:extLst>
              <a:ext uri="{FF2B5EF4-FFF2-40B4-BE49-F238E27FC236}">
                <a16:creationId xmlns:a16="http://schemas.microsoft.com/office/drawing/2014/main" id="{3FA7DCF1-6C16-374C-8F76-507B203E3BBD}"/>
              </a:ext>
            </a:extLst>
          </p:cNvPr>
          <p:cNvPicPr>
            <a:picLocks noChangeAspect="1"/>
          </p:cNvPicPr>
          <p:nvPr/>
        </p:nvPicPr>
        <p:blipFill>
          <a:blip r:embed="rId3"/>
          <a:stretch>
            <a:fillRect/>
          </a:stretch>
        </p:blipFill>
        <p:spPr>
          <a:xfrm>
            <a:off x="9606580" y="6329398"/>
            <a:ext cx="2358689" cy="113868"/>
          </a:xfrm>
          <a:prstGeom prst="rect">
            <a:avLst/>
          </a:prstGeom>
        </p:spPr>
      </p:pic>
      <p:pic>
        <p:nvPicPr>
          <p:cNvPr id="14" name="Picture 13">
            <a:extLst>
              <a:ext uri="{FF2B5EF4-FFF2-40B4-BE49-F238E27FC236}">
                <a16:creationId xmlns:a16="http://schemas.microsoft.com/office/drawing/2014/main" id="{6F2A6CD8-29EB-AC48-A197-87E92D2FF2CD}"/>
              </a:ext>
            </a:extLst>
          </p:cNvPr>
          <p:cNvPicPr>
            <a:picLocks noChangeAspect="1"/>
          </p:cNvPicPr>
          <p:nvPr/>
        </p:nvPicPr>
        <p:blipFill>
          <a:blip r:embed="rId4"/>
          <a:stretch>
            <a:fillRect/>
          </a:stretch>
        </p:blipFill>
        <p:spPr>
          <a:xfrm>
            <a:off x="231962" y="6016749"/>
            <a:ext cx="1599045" cy="685305"/>
          </a:xfrm>
          <a:prstGeom prst="rect">
            <a:avLst/>
          </a:prstGeom>
        </p:spPr>
      </p:pic>
      <p:sp>
        <p:nvSpPr>
          <p:cNvPr id="2" name="Slide Number Placeholder 1">
            <a:extLst>
              <a:ext uri="{FF2B5EF4-FFF2-40B4-BE49-F238E27FC236}">
                <a16:creationId xmlns:a16="http://schemas.microsoft.com/office/drawing/2014/main" id="{8A320F0C-3D09-44B1-A6D4-37BE17747D6D}"/>
              </a:ext>
            </a:extLst>
          </p:cNvPr>
          <p:cNvSpPr>
            <a:spLocks noGrp="1"/>
          </p:cNvSpPr>
          <p:nvPr>
            <p:ph type="sldNum" sz="quarter" idx="12"/>
          </p:nvPr>
        </p:nvSpPr>
        <p:spPr/>
        <p:txBody>
          <a:bodyPr/>
          <a:lstStyle/>
          <a:p>
            <a:fld id="{F860F34E-4A79-A240-AEA8-3E29BB228B1B}" type="slidenum">
              <a:rPr lang="en-US" smtClean="0"/>
              <a:t>21</a:t>
            </a:fld>
            <a:endParaRPr lang="en-US"/>
          </a:p>
        </p:txBody>
      </p:sp>
      <p:sp>
        <p:nvSpPr>
          <p:cNvPr id="15" name="Title 1">
            <a:extLst>
              <a:ext uri="{FF2B5EF4-FFF2-40B4-BE49-F238E27FC236}">
                <a16:creationId xmlns:a16="http://schemas.microsoft.com/office/drawing/2014/main" id="{83A07544-8A84-4A57-8CC5-729BD65230BD}"/>
              </a:ext>
            </a:extLst>
          </p:cNvPr>
          <p:cNvSpPr>
            <a:spLocks noGrp="1"/>
          </p:cNvSpPr>
          <p:nvPr>
            <p:ph type="title"/>
          </p:nvPr>
        </p:nvSpPr>
        <p:spPr>
          <a:xfrm>
            <a:off x="801789" y="365125"/>
            <a:ext cx="10677965" cy="754769"/>
          </a:xfrm>
        </p:spPr>
        <p:txBody>
          <a:bodyPr>
            <a:normAutofit/>
          </a:bodyPr>
          <a:lstStyle/>
          <a:p>
            <a:r>
              <a:rPr lang="en-US" b="1" dirty="0">
                <a:solidFill>
                  <a:srgbClr val="079418"/>
                </a:solidFill>
              </a:rPr>
              <a:t>Thank You</a:t>
            </a:r>
            <a:endParaRPr lang="en-US" dirty="0"/>
          </a:p>
        </p:txBody>
      </p:sp>
      <p:sp>
        <p:nvSpPr>
          <p:cNvPr id="4" name="TextBox 3">
            <a:extLst>
              <a:ext uri="{FF2B5EF4-FFF2-40B4-BE49-F238E27FC236}">
                <a16:creationId xmlns:a16="http://schemas.microsoft.com/office/drawing/2014/main" id="{AE44A79C-10C6-0E0E-A22B-C2E2121ECE84}"/>
              </a:ext>
            </a:extLst>
          </p:cNvPr>
          <p:cNvSpPr txBox="1"/>
          <p:nvPr/>
        </p:nvSpPr>
        <p:spPr>
          <a:xfrm>
            <a:off x="801789" y="1589790"/>
            <a:ext cx="4013694" cy="646331"/>
          </a:xfrm>
          <a:prstGeom prst="rect">
            <a:avLst/>
          </a:prstGeom>
          <a:noFill/>
        </p:spPr>
        <p:txBody>
          <a:bodyPr wrap="square" rtlCol="0">
            <a:spAutoFit/>
          </a:bodyPr>
          <a:lstStyle/>
          <a:p>
            <a:r>
              <a:rPr lang="en-US" dirty="0"/>
              <a:t>Medi-connect Bot: </a:t>
            </a:r>
            <a:r>
              <a:rPr lang="en-US" dirty="0">
                <a:hlinkClick r:id="rId5"/>
              </a:rPr>
              <a:t>Link</a:t>
            </a:r>
            <a:endParaRPr lang="en-US" dirty="0"/>
          </a:p>
          <a:p>
            <a:endParaRPr lang="en-US" dirty="0"/>
          </a:p>
        </p:txBody>
      </p:sp>
    </p:spTree>
    <p:extLst>
      <p:ext uri="{BB962C8B-B14F-4D97-AF65-F5344CB8AC3E}">
        <p14:creationId xmlns:p14="http://schemas.microsoft.com/office/powerpoint/2010/main" val="2633207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7f4b8a2-ad4f-41b5-9a91-284d2cc38f56}" enabled="1" method="Standard" siteId="{70de1992-07c6-480f-a318-a1afcba03983}" contentBits="0" removed="0"/>
</clbl:labelList>
</file>

<file path=docProps/app.xml><?xml version="1.0" encoding="utf-8"?>
<Properties xmlns="http://schemas.openxmlformats.org/officeDocument/2006/extended-properties" xmlns:vt="http://schemas.openxmlformats.org/officeDocument/2006/docPropsVTypes">
  <TotalTime>3016</TotalTime>
  <Words>2045</Words>
  <Application>Microsoft Macintosh PowerPoint</Application>
  <PresentationFormat>Widescreen</PresentationFormat>
  <Paragraphs>148</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-webkit-standard</vt:lpstr>
      <vt:lpstr>Aptos</vt:lpstr>
      <vt:lpstr>Arial</vt:lpstr>
      <vt:lpstr>Calibri</vt:lpstr>
      <vt:lpstr>Calibri Light</vt:lpstr>
      <vt:lpstr>Times New Roman</vt:lpstr>
      <vt:lpstr>Office Theme</vt:lpstr>
      <vt:lpstr>PowerPoint Presentation</vt:lpstr>
      <vt:lpstr>Agenda</vt:lpstr>
      <vt:lpstr>Introduction</vt:lpstr>
      <vt:lpstr>Challenges faced by health providers</vt:lpstr>
      <vt:lpstr>Challenges faced by health providers</vt:lpstr>
      <vt:lpstr>Related Literature Review</vt:lpstr>
      <vt:lpstr>Related Literature Review continued</vt:lpstr>
      <vt:lpstr>Related Literature Review</vt:lpstr>
      <vt:lpstr>Related Literature Review</vt:lpstr>
      <vt:lpstr>Proposed Methodology</vt:lpstr>
      <vt:lpstr>Contributions:</vt:lpstr>
      <vt:lpstr>Data Description</vt:lpstr>
      <vt:lpstr>Model Building </vt:lpstr>
      <vt:lpstr>Model Building </vt:lpstr>
      <vt:lpstr>Our Work</vt:lpstr>
      <vt:lpstr>Our Work</vt:lpstr>
      <vt:lpstr>Statistical Test</vt:lpstr>
      <vt:lpstr>Conclusion</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Davis, Clayton</dc:creator>
  <cp:lastModifiedBy>Nagamalla, Surya Teja</cp:lastModifiedBy>
  <cp:revision>47</cp:revision>
  <cp:lastPrinted>2019-08-23T20:44:22Z</cp:lastPrinted>
  <dcterms:created xsi:type="dcterms:W3CDTF">2019-07-08T18:39:15Z</dcterms:created>
  <dcterms:modified xsi:type="dcterms:W3CDTF">2024-11-23T04:20:27Z</dcterms:modified>
</cp:coreProperties>
</file>